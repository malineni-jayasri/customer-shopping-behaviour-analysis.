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Host Grotesk Light"/>
      <p:regular r:id="rId201314"/>
    </p:embeddedFont>
    <p:embeddedFont>
      <p:font typeface="Host Grotesk"/>
      <p:regular r:id="rId201315"/>
    </p:embeddedFont>
    <p:embeddedFont>
      <p:font typeface="Host Grotesk Medium"/>
      <p:regular r:id="rId201316"/>
    </p:embeddedFont>
    <p:embeddedFont>
      <p:font typeface="Host Grotesk Bol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separates what the dashboard shows from what should be tested next. Revenue values read from chart gridlines are approximate; customer counts and dataset preparation figures are reported as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cleaning intervention was limited to review rating. Category medians filled 37 missing values; keep this imputation in mind when interpreting the average rating.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revenue attachment contains approximate readings, not exact transaction totals. The purchase-volume ranking agrees with the revenue ranking, strengthening the case for protecting Clothing and Accessories while testing an Outerwear lift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aggregate revenues, not per-customer spending comparisons. Prioritise Young Adults for offer tests, but avoid excluding other age groups on this evidence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 shipping is the most frequent single option, but accounts for about 17% of orders. Popularity alone does not show whether it increases purchase value; test that before expanding the offer.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interpret discount applied and promo code used as separate explanatory variables in this dataset. Their exact match creates redundant information. The observed usage rate does not establish incremental spend.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previous-purchase measure describes a customer base with substantial purchase history. It is not a measured retention rate. Payment preference and gender composition describe the base; they do not explain loyalty by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Evaluate subscription conversion, category revenue and purchase value against the current baseline. Keep the tests separable so an observed change can be attributed to the offer being evaluated. The dataset describes associations; it does not prove that shipping or discount incentives cause higher spend.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FFFFFF"/>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09585" y="2387600"/>
            <a:ext cx="8508787" cy="2532856"/>
          </a:xfrm>
          <a:prstGeom prst="roundRect">
            <a:avLst>
              <a:gd name="adj" fmla="val 1203"/>
            </a:avLst>
          </a:prstGeom>
          <a:solidFill>
            <a:srgbClr val="E9DFFF"/>
          </a:solidFill>
          <a:ln w="6350">
            <a:solidFill>
              <a:srgbClr val="000000">
                <a:alpha val="28000"/>
              </a:srgbClr>
            </a:solidFill>
            <a:prstDash val="solid"/>
          </a:ln>
        </p:spPr>
      </p:sp>
      <p:sp>
        <p:nvSpPr>
          <p:cNvPr id="3" name="Text 1"/>
          <p:cNvSpPr/>
          <p:nvPr/>
        </p:nvSpPr>
        <p:spPr>
          <a:xfrm>
            <a:off x="1047724" y="2774950"/>
            <a:ext cx="8242094" cy="274241"/>
          </a:xfrm>
          <a:prstGeom prst="rect">
            <a:avLst/>
          </a:prstGeom>
          <a:noFill/>
          <a:ln/>
        </p:spPr>
        <p:txBody>
          <a:bodyPr wrap="none" lIns="0" tIns="0" rIns="0" bIns="0" rtlCol="0" anchor="t"/>
          <a:lstStyle/>
          <a:p>
            <a:pPr algn="l" indent="0" marL="0">
              <a:lnSpc>
                <a:spcPct val="150000"/>
              </a:lnSpc>
              <a:buNone/>
            </a:pPr>
            <a:r>
              <a:rPr lang="en-US" sz="1200" spc="120" kern="100" dirty="0">
                <a:solidFill>
                  <a:srgbClr val="000000"/>
                </a:solidFill>
                <a:latin typeface="Host Grotesk Medium" pitchFamily="34" charset="0"/>
                <a:ea typeface="Host Grotesk Medium" pitchFamily="34" charset="-122"/>
                <a:cs typeface="Host Grotesk Medium" pitchFamily="34" charset="-120"/>
              </a:rPr>
              <a:t>CUSTOMER SHOPPING ANALYSIS</a:t>
            </a:r>
            <a:endParaRPr lang="en-US" sz="1200" dirty="0"/>
          </a:p>
        </p:txBody>
      </p:sp>
      <p:sp>
        <p:nvSpPr>
          <p:cNvPr id="4" name="Text 2"/>
          <p:cNvSpPr/>
          <p:nvPr/>
        </p:nvSpPr>
        <p:spPr>
          <a:xfrm>
            <a:off x="1047724" y="3157141"/>
            <a:ext cx="7632509" cy="568920"/>
          </a:xfrm>
          <a:prstGeom prst="rect">
            <a:avLst/>
          </a:prstGeom>
          <a:noFill/>
          <a:ln/>
        </p:spPr>
        <p:txBody>
          <a:bodyPr wrap="none" lIns="0" tIns="0" rIns="0" bIns="0" rtlCol="0" anchor="t"/>
          <a:lstStyle/>
          <a:p>
            <a:pPr algn="l" indent="0" marL="0">
              <a:lnSpc>
                <a:spcPct val="93000"/>
              </a:lnSpc>
              <a:buNone/>
            </a:pPr>
            <a:r>
              <a:rPr lang="en-US" sz="4000" spc="-20" kern="100" dirty="0">
                <a:solidFill>
                  <a:srgbClr val="000000"/>
                </a:solidFill>
                <a:latin typeface="Host Grotesk Light" pitchFamily="34" charset="0"/>
                <a:ea typeface="Host Grotesk Light" pitchFamily="34" charset="-122"/>
                <a:cs typeface="Host Grotesk Light" pitchFamily="34" charset="-120"/>
              </a:rPr>
              <a:t>Customer Shopping Behavior </a:t>
            </a:r>
            <a:endParaRPr lang="en-US" sz="4000" dirty="0"/>
          </a:p>
        </p:txBody>
      </p:sp>
      <p:sp>
        <p:nvSpPr>
          <p:cNvPr id="5" name="Shape 3"/>
          <p:cNvSpPr/>
          <p:nvPr/>
        </p:nvSpPr>
        <p:spPr>
          <a:xfrm>
            <a:off x="1047724" y="4041973"/>
            <a:ext cx="7632410" cy="12601"/>
          </a:xfrm>
          <a:prstGeom prst="roundRect">
            <a:avLst>
              <a:gd name="adj" fmla="val 49998"/>
            </a:avLst>
          </a:prstGeom>
          <a:solidFill>
            <a:srgbClr val="000000"/>
          </a:solidFill>
          <a:ln/>
        </p:spPr>
      </p:sp>
      <p:sp>
        <p:nvSpPr>
          <p:cNvPr id="6" name="Text 4"/>
          <p:cNvSpPr/>
          <p:nvPr/>
        </p:nvSpPr>
        <p:spPr>
          <a:xfrm>
            <a:off x="1047724" y="4218186"/>
            <a:ext cx="8242094" cy="314920"/>
          </a:xfrm>
          <a:prstGeom prst="rect">
            <a:avLst/>
          </a:prstGeom>
          <a:noFill/>
          <a:ln/>
        </p:spPr>
        <p:txBody>
          <a:bodyPr wrap="none" lIns="0" tIns="0" rIns="0" bIns="0" rtlCol="0" anchor="t"/>
          <a:lstStyle/>
          <a:p>
            <a:pPr algn="l" indent="0" marL="0">
              <a:lnSpc>
                <a:spcPct val="129000"/>
              </a:lnSpc>
              <a:buNone/>
            </a:pPr>
            <a:r>
              <a:rPr lang="en-US" sz="1600" dirty="0">
                <a:solidFill>
                  <a:srgbClr val="000000"/>
                </a:solidFill>
                <a:latin typeface="Host Grotesk" pitchFamily="34" charset="0"/>
                <a:ea typeface="Host Grotesk" pitchFamily="34" charset="-122"/>
                <a:cs typeface="Host Grotesk" pitchFamily="34" charset="-120"/>
              </a:rPr>
              <a:t>Business findings and recommendations from 3,900 customer records.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585" y="609600"/>
            <a:ext cx="11582110" cy="274241"/>
          </a:xfrm>
          <a:prstGeom prst="rect">
            <a:avLst/>
          </a:prstGeom>
          <a:noFill/>
          <a:ln/>
        </p:spPr>
        <p:txBody>
          <a:bodyPr wrap="none" lIns="0" tIns="0" rIns="0" bIns="0" rtlCol="0" anchor="t"/>
          <a:lstStyle/>
          <a:p>
            <a:pPr algn="l" indent="0" marL="0">
              <a:lnSpc>
                <a:spcPct val="150000"/>
              </a:lnSpc>
              <a:buNone/>
            </a:pPr>
            <a:r>
              <a:rPr lang="en-US" sz="1200" spc="120" kern="100" dirty="0">
                <a:solidFill>
                  <a:srgbClr val="7C3AED"/>
                </a:solidFill>
                <a:latin typeface="Host Grotesk Medium" pitchFamily="34" charset="0"/>
                <a:ea typeface="Host Grotesk Medium" pitchFamily="34" charset="-122"/>
                <a:cs typeface="Host Grotesk Medium" pitchFamily="34" charset="-120"/>
              </a:rPr>
              <a:t>DATASET AND PREPARATION</a:t>
            </a:r>
            <a:endParaRPr lang="en-US" sz="1200" dirty="0"/>
          </a:p>
        </p:txBody>
      </p:sp>
      <p:sp>
        <p:nvSpPr>
          <p:cNvPr id="3" name="Text 1"/>
          <p:cNvSpPr/>
          <p:nvPr/>
        </p:nvSpPr>
        <p:spPr>
          <a:xfrm>
            <a:off x="609585" y="991791"/>
            <a:ext cx="10972526" cy="426641"/>
          </a:xfrm>
          <a:prstGeom prst="rect">
            <a:avLst/>
          </a:prstGeom>
          <a:noFill/>
          <a:ln/>
        </p:spPr>
        <p:txBody>
          <a:bodyPr wrap="none" lIns="0" tIns="0" rIns="0" bIns="0" rtlCol="0" anchor="t"/>
          <a:lstStyle/>
          <a:p>
            <a:pPr algn="l" indent="0" marL="0">
              <a:lnSpc>
                <a:spcPct val="93000"/>
              </a:lnSpc>
              <a:buNone/>
            </a:pPr>
            <a:r>
              <a:rPr lang="en-US" sz="3000" spc="-15" kern="100" dirty="0">
                <a:solidFill>
                  <a:srgbClr val="2B1B6B"/>
                </a:solidFill>
                <a:latin typeface="Host Grotesk Light" pitchFamily="34" charset="0"/>
                <a:ea typeface="Host Grotesk Light" pitchFamily="34" charset="-122"/>
                <a:cs typeface="Host Grotesk Light" pitchFamily="34" charset="-120"/>
              </a:rPr>
              <a:t>3,900 customers, 18 attributes, one clean dataset</a:t>
            </a:r>
            <a:endParaRPr lang="en-US" sz="3000" dirty="0"/>
          </a:p>
        </p:txBody>
      </p:sp>
      <p:sp>
        <p:nvSpPr>
          <p:cNvPr id="4" name="Shape 2"/>
          <p:cNvSpPr/>
          <p:nvPr/>
        </p:nvSpPr>
        <p:spPr>
          <a:xfrm>
            <a:off x="609585" y="1785144"/>
            <a:ext cx="10972526" cy="12601"/>
          </a:xfrm>
          <a:prstGeom prst="roundRect">
            <a:avLst>
              <a:gd name="adj" fmla="val 49998"/>
            </a:avLst>
          </a:prstGeom>
          <a:solidFill>
            <a:srgbClr val="2B1B6B"/>
          </a:solidFill>
          <a:ln/>
        </p:spPr>
      </p:sp>
      <p:sp>
        <p:nvSpPr>
          <p:cNvPr id="5" name="Text 3"/>
          <p:cNvSpPr/>
          <p:nvPr/>
        </p:nvSpPr>
        <p:spPr>
          <a:xfrm>
            <a:off x="609585" y="2139156"/>
            <a:ext cx="10972526" cy="629841"/>
          </a:xfrm>
          <a:prstGeom prst="rect">
            <a:avLst/>
          </a:prstGeom>
          <a:noFill/>
          <a:ln/>
        </p:spPr>
        <p:txBody>
          <a:bodyPr wrap="square" lIns="0" tIns="0" rIns="0" bIns="0" rtlCol="0" anchor="t">
            <a:normAutofit/>
          </a:bodyPr>
          <a:lstStyle/>
          <a:p>
            <a:pPr algn="l" indent="0" marL="0">
              <a:lnSpc>
                <a:spcPct val="129000"/>
              </a:lnSpc>
              <a:buNone/>
            </a:pPr>
            <a:r>
              <a:rPr lang="en-US" sz="1600" dirty="0">
                <a:solidFill>
                  <a:srgbClr val="2B2250"/>
                </a:solidFill>
                <a:latin typeface="Host Grotesk" pitchFamily="34" charset="0"/>
                <a:ea typeface="Host Grotesk" pitchFamily="34" charset="-122"/>
                <a:cs typeface="Host Grotesk" pitchFamily="34" charset="-120"/>
              </a:rPr>
              <a:t>3,900 records across 18 columns, spread over 50 locations and 25 items, give a broad enough base to trust the patterns that follow.</a:t>
            </a:r>
            <a:endParaRPr lang="en-US" sz="1600" dirty="0"/>
          </a:p>
        </p:txBody>
      </p:sp>
      <p:sp>
        <p:nvSpPr>
          <p:cNvPr id="6" name="Text 4"/>
          <p:cNvSpPr/>
          <p:nvPr/>
        </p:nvSpPr>
        <p:spPr>
          <a:xfrm>
            <a:off x="609585" y="3010297"/>
            <a:ext cx="3428914" cy="812800"/>
          </a:xfrm>
          <a:prstGeom prst="rect">
            <a:avLst/>
          </a:prstGeom>
          <a:noFill/>
          <a:ln/>
        </p:spPr>
        <p:txBody>
          <a:bodyPr wrap="none" lIns="0" tIns="0" rIns="0" bIns="0" rtlCol="0" anchor="t"/>
          <a:lstStyle/>
          <a:p>
            <a:pPr algn="l" indent="0" marL="0">
              <a:lnSpc>
                <a:spcPct val="83000"/>
              </a:lnSpc>
              <a:buNone/>
            </a:pPr>
            <a:r>
              <a:rPr lang="en-US" sz="6400" spc="-64" kern="100" dirty="0">
                <a:solidFill>
                  <a:srgbClr val="2B1B6B"/>
                </a:solidFill>
                <a:latin typeface="Host Grotesk Light" pitchFamily="34" charset="0"/>
                <a:ea typeface="Host Grotesk Light" pitchFamily="34" charset="-122"/>
                <a:cs typeface="Host Grotesk Light" pitchFamily="34" charset="-120"/>
              </a:rPr>
              <a:t>50</a:t>
            </a:r>
            <a:endParaRPr lang="en-US" sz="6400" dirty="0"/>
          </a:p>
        </p:txBody>
      </p:sp>
      <p:sp>
        <p:nvSpPr>
          <p:cNvPr id="7" name="Text 5"/>
          <p:cNvSpPr/>
          <p:nvPr/>
        </p:nvSpPr>
        <p:spPr>
          <a:xfrm>
            <a:off x="609585" y="4089797"/>
            <a:ext cx="3657509" cy="314920"/>
          </a:xfrm>
          <a:prstGeom prst="rect">
            <a:avLst/>
          </a:prstGeom>
          <a:noFill/>
          <a:ln/>
        </p:spPr>
        <p:txBody>
          <a:bodyPr wrap="none" lIns="0" tIns="0" rIns="0" bIns="0" rtlCol="0" anchor="t"/>
          <a:lstStyle/>
          <a:p>
            <a:pPr algn="l" indent="0" marL="0">
              <a:lnSpc>
                <a:spcPct val="129000"/>
              </a:lnSpc>
              <a:buNone/>
            </a:pPr>
            <a:r>
              <a:rPr lang="en-US" sz="1600" dirty="0">
                <a:solidFill>
                  <a:srgbClr val="2B2250"/>
                </a:solidFill>
                <a:latin typeface="Host Grotesk" pitchFamily="34" charset="0"/>
                <a:ea typeface="Host Grotesk" pitchFamily="34" charset="-122"/>
                <a:cs typeface="Host Grotesk" pitchFamily="34" charset="-120"/>
              </a:rPr>
              <a:t>Locations</a:t>
            </a:r>
            <a:endParaRPr lang="en-US" sz="1600" dirty="0"/>
          </a:p>
        </p:txBody>
      </p:sp>
      <p:sp>
        <p:nvSpPr>
          <p:cNvPr id="8" name="Text 6"/>
          <p:cNvSpPr/>
          <p:nvPr/>
        </p:nvSpPr>
        <p:spPr>
          <a:xfrm>
            <a:off x="4495688" y="3010297"/>
            <a:ext cx="3200320" cy="812800"/>
          </a:xfrm>
          <a:prstGeom prst="rect">
            <a:avLst/>
          </a:prstGeom>
          <a:noFill/>
          <a:ln/>
        </p:spPr>
        <p:txBody>
          <a:bodyPr wrap="none" lIns="0" tIns="0" rIns="0" bIns="0" rtlCol="0" anchor="t"/>
          <a:lstStyle/>
          <a:p>
            <a:pPr algn="l" indent="0" marL="0">
              <a:lnSpc>
                <a:spcPct val="83000"/>
              </a:lnSpc>
              <a:buNone/>
            </a:pPr>
            <a:r>
              <a:rPr lang="en-US" sz="6400" spc="-64" kern="100" dirty="0">
                <a:solidFill>
                  <a:srgbClr val="2B1B6B"/>
                </a:solidFill>
                <a:latin typeface="Host Grotesk Light" pitchFamily="34" charset="0"/>
                <a:ea typeface="Host Grotesk Light" pitchFamily="34" charset="-122"/>
                <a:cs typeface="Host Grotesk Light" pitchFamily="34" charset="-120"/>
              </a:rPr>
              <a:t>25</a:t>
            </a:r>
            <a:endParaRPr lang="en-US" sz="6400" dirty="0"/>
          </a:p>
        </p:txBody>
      </p:sp>
      <p:sp>
        <p:nvSpPr>
          <p:cNvPr id="9" name="Text 7"/>
          <p:cNvSpPr/>
          <p:nvPr/>
        </p:nvSpPr>
        <p:spPr>
          <a:xfrm>
            <a:off x="4495688" y="4089797"/>
            <a:ext cx="3428914" cy="314920"/>
          </a:xfrm>
          <a:prstGeom prst="rect">
            <a:avLst/>
          </a:prstGeom>
          <a:noFill/>
          <a:ln/>
        </p:spPr>
        <p:txBody>
          <a:bodyPr wrap="none" lIns="0" tIns="0" rIns="0" bIns="0" rtlCol="0" anchor="t"/>
          <a:lstStyle/>
          <a:p>
            <a:pPr algn="l" indent="0" marL="0">
              <a:lnSpc>
                <a:spcPct val="129000"/>
              </a:lnSpc>
              <a:buNone/>
            </a:pPr>
            <a:r>
              <a:rPr lang="en-US" sz="1600" dirty="0">
                <a:solidFill>
                  <a:srgbClr val="2B2250"/>
                </a:solidFill>
                <a:latin typeface="Host Grotesk" pitchFamily="34" charset="0"/>
                <a:ea typeface="Host Grotesk" pitchFamily="34" charset="-122"/>
                <a:cs typeface="Host Grotesk" pitchFamily="34" charset="-120"/>
              </a:rPr>
              <a:t>Items</a:t>
            </a:r>
            <a:endParaRPr lang="en-US" sz="1600" dirty="0"/>
          </a:p>
        </p:txBody>
      </p:sp>
      <p:sp>
        <p:nvSpPr>
          <p:cNvPr id="10" name="Text 8"/>
          <p:cNvSpPr/>
          <p:nvPr/>
        </p:nvSpPr>
        <p:spPr>
          <a:xfrm>
            <a:off x="8153196" y="3010297"/>
            <a:ext cx="3428914" cy="812800"/>
          </a:xfrm>
          <a:prstGeom prst="rect">
            <a:avLst/>
          </a:prstGeom>
          <a:noFill/>
          <a:ln/>
        </p:spPr>
        <p:txBody>
          <a:bodyPr wrap="none" lIns="0" tIns="0" rIns="0" bIns="0" rtlCol="0" anchor="t"/>
          <a:lstStyle/>
          <a:p>
            <a:pPr algn="l" indent="0" marL="0">
              <a:lnSpc>
                <a:spcPct val="83000"/>
              </a:lnSpc>
              <a:buNone/>
            </a:pPr>
            <a:r>
              <a:rPr lang="en-US" sz="6400" spc="-64" kern="100" dirty="0">
                <a:solidFill>
                  <a:srgbClr val="2B1B6B"/>
                </a:solidFill>
                <a:latin typeface="Host Grotesk Light" pitchFamily="34" charset="0"/>
                <a:ea typeface="Host Grotesk Light" pitchFamily="34" charset="-122"/>
                <a:cs typeface="Host Grotesk Light" pitchFamily="34" charset="-120"/>
              </a:rPr>
              <a:t>4</a:t>
            </a:r>
            <a:endParaRPr lang="en-US" sz="6400" dirty="0"/>
          </a:p>
        </p:txBody>
      </p:sp>
      <p:sp>
        <p:nvSpPr>
          <p:cNvPr id="11" name="Text 9"/>
          <p:cNvSpPr/>
          <p:nvPr/>
        </p:nvSpPr>
        <p:spPr>
          <a:xfrm>
            <a:off x="8153196" y="4089797"/>
            <a:ext cx="3428914" cy="629841"/>
          </a:xfrm>
          <a:prstGeom prst="rect">
            <a:avLst/>
          </a:prstGeom>
          <a:noFill/>
          <a:ln/>
        </p:spPr>
        <p:txBody>
          <a:bodyPr wrap="square" lIns="0" tIns="0" rIns="0" bIns="0" rtlCol="0" anchor="t">
            <a:normAutofit/>
          </a:bodyPr>
          <a:lstStyle/>
          <a:p>
            <a:pPr algn="l" indent="0" marL="0">
              <a:lnSpc>
                <a:spcPct val="129000"/>
              </a:lnSpc>
              <a:buNone/>
            </a:pPr>
            <a:r>
              <a:rPr lang="en-US" sz="1600" dirty="0">
                <a:solidFill>
                  <a:srgbClr val="2B2250"/>
                </a:solidFill>
                <a:latin typeface="Host Grotesk" pitchFamily="34" charset="0"/>
                <a:ea typeface="Host Grotesk" pitchFamily="34" charset="-122"/>
                <a:cs typeface="Host Grotesk" pitchFamily="34" charset="-120"/>
              </a:rPr>
              <a:t>Clothing, Accessories,</a:t>
            </a:r>
            <a:endParaRPr lang="en-US" sz="1600" dirty="0"/>
          </a:p>
          <a:p>
            <a:pPr algn="l" indent="0" marL="0">
              <a:lnSpc>
                <a:spcPct val="129000"/>
              </a:lnSpc>
              <a:buNone/>
            </a:pPr>
            <a:r>
              <a:rPr lang="en-US" sz="1600" dirty="0">
                <a:solidFill>
                  <a:srgbClr val="2B2250"/>
                </a:solidFill>
                <a:latin typeface="Host Grotesk" pitchFamily="34" charset="0"/>
                <a:ea typeface="Host Grotesk" pitchFamily="34" charset="-122"/>
                <a:cs typeface="Host Grotesk" pitchFamily="34" charset="-120"/>
              </a:rPr>
              <a:t>Footwear, Outerwear</a:t>
            </a:r>
            <a:endParaRPr lang="en-US" sz="1600" dirty="0"/>
          </a:p>
        </p:txBody>
      </p:sp>
      <p:sp>
        <p:nvSpPr>
          <p:cNvPr id="12" name="Shape 10"/>
          <p:cNvSpPr/>
          <p:nvPr/>
        </p:nvSpPr>
        <p:spPr>
          <a:xfrm>
            <a:off x="609585" y="4947047"/>
            <a:ext cx="10972526" cy="12601"/>
          </a:xfrm>
          <a:prstGeom prst="roundRect">
            <a:avLst>
              <a:gd name="adj" fmla="val 49998"/>
            </a:avLst>
          </a:prstGeom>
          <a:solidFill>
            <a:srgbClr val="5B3FA0">
              <a:alpha val="28000"/>
            </a:srgbClr>
          </a:solidFill>
          <a:ln/>
        </p:spPr>
      </p:sp>
      <p:sp>
        <p:nvSpPr>
          <p:cNvPr id="13" name="Text 11"/>
          <p:cNvSpPr/>
          <p:nvPr/>
        </p:nvSpPr>
        <p:spPr>
          <a:xfrm>
            <a:off x="609585" y="5428059"/>
            <a:ext cx="11582110" cy="314920"/>
          </a:xfrm>
          <a:prstGeom prst="rect">
            <a:avLst/>
          </a:prstGeom>
          <a:noFill/>
          <a:ln/>
        </p:spPr>
        <p:txBody>
          <a:bodyPr wrap="none" lIns="0" tIns="0" rIns="0" bIns="0" rtlCol="0" anchor="t"/>
          <a:lstStyle/>
          <a:p>
            <a:pPr algn="l" indent="0" marL="0">
              <a:lnSpc>
                <a:spcPct val="129000"/>
              </a:lnSpc>
              <a:buNone/>
            </a:pPr>
            <a:r>
              <a:rPr lang="en-US" sz="1600" dirty="0">
                <a:solidFill>
                  <a:srgbClr val="2B2250"/>
                </a:solidFill>
                <a:latin typeface="Host Grotesk" pitchFamily="34" charset="0"/>
                <a:ea typeface="Host Grotesk" pitchFamily="34" charset="-122"/>
                <a:cs typeface="Host Grotesk" pitchFamily="34" charset="-120"/>
              </a:rPr>
              <a:t>Only review rating had gaps: 37 missing values, filled with category medians.</a:t>
            </a:r>
            <a:endParaRPr lang="en-US" sz="1600" dirty="0"/>
          </a:p>
        </p:txBody>
      </p:sp>
      <p:sp>
        <p:nvSpPr>
          <p:cNvPr id="14" name="Text 12"/>
          <p:cNvSpPr/>
          <p:nvPr/>
        </p:nvSpPr>
        <p:spPr>
          <a:xfrm>
            <a:off x="609585" y="5984280"/>
            <a:ext cx="11582110" cy="264120"/>
          </a:xfrm>
          <a:prstGeom prst="rect">
            <a:avLst/>
          </a:prstGeom>
          <a:noFill/>
          <a:ln/>
        </p:spPr>
        <p:txBody>
          <a:bodyPr wrap="none" lIns="0" tIns="0" rIns="0" bIns="0" rtlCol="0" anchor="t"/>
          <a:lstStyle/>
          <a:p>
            <a:pPr algn="l" indent="0" marL="0">
              <a:lnSpc>
                <a:spcPct val="133000"/>
              </a:lnSpc>
              <a:buNone/>
            </a:pPr>
            <a:r>
              <a:rPr lang="en-US" sz="1300" spc="26" kern="100" dirty="0">
                <a:solidFill>
                  <a:srgbClr val="6B5F95"/>
                </a:solidFill>
                <a:latin typeface="Host Grotesk" pitchFamily="34" charset="0"/>
                <a:ea typeface="Host Grotesk" pitchFamily="34" charset="-122"/>
                <a:cs typeface="Host Grotesk" pitchFamily="34" charset="-120"/>
              </a:rPr>
              <a:t>Source: customer shopping dataset and dashboard</a:t>
            </a:r>
            <a:endParaRPr lang="en-US" sz="1300" dirty="0"/>
          </a:p>
        </p:txBody>
      </p:sp>
      <p:sp>
        <p:nvSpPr>
          <p:cNvPr id="15" name="Shape 13"/>
          <p:cNvSpPr/>
          <p:nvPr/>
        </p:nvSpPr>
        <p:spPr>
          <a:xfrm>
            <a:off x="4260743" y="3010297"/>
            <a:ext cx="12700" cy="1709341"/>
          </a:xfrm>
          <a:prstGeom prst="rect">
            <a:avLst/>
          </a:prstGeom>
          <a:solidFill>
            <a:srgbClr val="5B3FA0">
              <a:alpha val="28000"/>
            </a:srgbClr>
          </a:solidFill>
          <a:ln/>
        </p:spPr>
      </p:sp>
      <p:sp>
        <p:nvSpPr>
          <p:cNvPr id="16" name="Shape 14"/>
          <p:cNvSpPr/>
          <p:nvPr/>
        </p:nvSpPr>
        <p:spPr>
          <a:xfrm>
            <a:off x="7918252" y="3010297"/>
            <a:ext cx="12700" cy="1709341"/>
          </a:xfrm>
          <a:prstGeom prst="rect">
            <a:avLst/>
          </a:prstGeom>
          <a:solidFill>
            <a:srgbClr val="5B3FA0">
              <a:alpha val="28000"/>
            </a:srgbClr>
          </a:solidFill>
          <a:ln/>
        </p:spPr>
      </p:sp>
      <p:sp>
        <p:nvSpPr>
          <p:cNvPr id="17" name="Text 15"/>
          <p:cNvSpPr/>
          <p:nvPr/>
        </p:nvSpPr>
        <p:spPr>
          <a:xfrm>
            <a:off x="11756235" y="6444952"/>
            <a:ext cx="435460" cy="216495"/>
          </a:xfrm>
          <a:prstGeom prst="rect">
            <a:avLst/>
          </a:prstGeom>
          <a:noFill/>
          <a:ln/>
        </p:spPr>
        <p:txBody>
          <a:bodyPr wrap="none" lIns="0" tIns="0" rIns="0" bIns="0" rtlCol="0" anchor="ctr"/>
          <a:lstStyle/>
          <a:p>
            <a:pPr algn="l" indent="0" marL="0">
              <a:lnSpc>
                <a:spcPct val="129000"/>
              </a:lnSpc>
              <a:buNone/>
            </a:pPr>
            <a:r>
              <a:rPr lang="en-US" sz="1100" spc="198" kern="100" dirty="0">
                <a:solidFill>
                  <a:srgbClr val="2B1B6B"/>
                </a:solidFill>
                <a:latin typeface="Host Grotesk Medium" pitchFamily="34" charset="0"/>
                <a:ea typeface="Host Grotesk Medium" pitchFamily="34" charset="-122"/>
                <a:cs typeface="Host Grotesk Medium"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609600"/>
            <a:ext cx="11582110" cy="274241"/>
          </a:xfrm>
          <a:prstGeom prst="rect">
            <a:avLst/>
          </a:prstGeom>
          <a:noFill/>
          <a:ln/>
        </p:spPr>
        <p:txBody>
          <a:bodyPr wrap="none" lIns="0" tIns="0" rIns="0" bIns="0" rtlCol="0" anchor="t"/>
          <a:lstStyle/>
          <a:p>
            <a:pPr algn="l" indent="0" marL="0">
              <a:lnSpc>
                <a:spcPct val="150000"/>
              </a:lnSpc>
              <a:buNone/>
            </a:pPr>
            <a:r>
              <a:rPr lang="en-US" sz="1200" spc="120" kern="100" dirty="0">
                <a:solidFill>
                  <a:srgbClr val="7C3AED"/>
                </a:solidFill>
                <a:latin typeface="Host Grotesk Medium" pitchFamily="34" charset="0"/>
                <a:ea typeface="Host Grotesk Medium" pitchFamily="34" charset="-122"/>
                <a:cs typeface="Host Grotesk Medium" pitchFamily="34" charset="-120"/>
              </a:rPr>
              <a:t>HEADLINE MEASURES</a:t>
            </a:r>
            <a:endParaRPr lang="en-US" sz="1200" dirty="0"/>
          </a:p>
        </p:txBody>
      </p:sp>
      <p:sp>
        <p:nvSpPr>
          <p:cNvPr id="3" name="Text 1"/>
          <p:cNvSpPr/>
          <p:nvPr/>
        </p:nvSpPr>
        <p:spPr>
          <a:xfrm>
            <a:off x="609585" y="991791"/>
            <a:ext cx="10972526" cy="426641"/>
          </a:xfrm>
          <a:prstGeom prst="rect">
            <a:avLst/>
          </a:prstGeom>
          <a:noFill/>
          <a:ln/>
        </p:spPr>
        <p:txBody>
          <a:bodyPr wrap="none" lIns="0" tIns="0" rIns="0" bIns="0" rtlCol="0" anchor="t"/>
          <a:lstStyle/>
          <a:p>
            <a:pPr algn="l" indent="0" marL="0">
              <a:lnSpc>
                <a:spcPct val="93000"/>
              </a:lnSpc>
              <a:buNone/>
            </a:pPr>
            <a:r>
              <a:rPr lang="en-US" sz="3000" spc="-15" kern="100" dirty="0">
                <a:solidFill>
                  <a:srgbClr val="2B1B6B"/>
                </a:solidFill>
                <a:latin typeface="Host Grotesk Light" pitchFamily="34" charset="0"/>
                <a:ea typeface="Host Grotesk Light" pitchFamily="34" charset="-122"/>
                <a:cs typeface="Host Grotesk Light" pitchFamily="34" charset="-120"/>
              </a:rPr>
              <a:t>Headline KPIs: $59.76 average purchase, 3.75 average rating</a:t>
            </a:r>
            <a:endParaRPr lang="en-US" sz="3000" dirty="0"/>
          </a:p>
        </p:txBody>
      </p:sp>
      <p:sp>
        <p:nvSpPr>
          <p:cNvPr id="4" name="Shape 2"/>
          <p:cNvSpPr/>
          <p:nvPr/>
        </p:nvSpPr>
        <p:spPr>
          <a:xfrm>
            <a:off x="609585" y="1785144"/>
            <a:ext cx="10972526" cy="12601"/>
          </a:xfrm>
          <a:prstGeom prst="roundRect">
            <a:avLst>
              <a:gd name="adj" fmla="val 49998"/>
            </a:avLst>
          </a:prstGeom>
          <a:solidFill>
            <a:srgbClr val="2B1B6B"/>
          </a:solidFill>
          <a:ln/>
        </p:spPr>
      </p:sp>
      <p:sp>
        <p:nvSpPr>
          <p:cNvPr id="5" name="Text 3"/>
          <p:cNvSpPr/>
          <p:nvPr/>
        </p:nvSpPr>
        <p:spPr>
          <a:xfrm>
            <a:off x="609585" y="2139156"/>
            <a:ext cx="4160337" cy="939800"/>
          </a:xfrm>
          <a:prstGeom prst="rect">
            <a:avLst/>
          </a:prstGeom>
          <a:noFill/>
          <a:ln/>
        </p:spPr>
        <p:txBody>
          <a:bodyPr wrap="none" lIns="0" tIns="0" rIns="0" bIns="0" rtlCol="0" anchor="t"/>
          <a:lstStyle/>
          <a:p>
            <a:pPr algn="l" indent="0" marL="0">
              <a:lnSpc>
                <a:spcPct val="83000"/>
              </a:lnSpc>
              <a:buNone/>
            </a:pPr>
            <a:r>
              <a:rPr lang="en-US" sz="7400" spc="-74" kern="100" dirty="0">
                <a:solidFill>
                  <a:srgbClr val="7C3AED"/>
                </a:solidFill>
                <a:latin typeface="Host Grotesk Light" pitchFamily="34" charset="0"/>
                <a:ea typeface="Host Grotesk Light" pitchFamily="34" charset="-122"/>
                <a:cs typeface="Host Grotesk Light" pitchFamily="34" charset="-120"/>
              </a:rPr>
              <a:t>$59.76</a:t>
            </a:r>
            <a:endParaRPr lang="en-US" sz="7400" dirty="0"/>
          </a:p>
        </p:txBody>
      </p:sp>
      <p:sp>
        <p:nvSpPr>
          <p:cNvPr id="6" name="Text 4"/>
          <p:cNvSpPr/>
          <p:nvPr/>
        </p:nvSpPr>
        <p:spPr>
          <a:xfrm>
            <a:off x="609585" y="3345656"/>
            <a:ext cx="4388931" cy="314920"/>
          </a:xfrm>
          <a:prstGeom prst="rect">
            <a:avLst/>
          </a:prstGeom>
          <a:noFill/>
          <a:ln/>
        </p:spPr>
        <p:txBody>
          <a:bodyPr wrap="none" lIns="0" tIns="0" rIns="0" bIns="0" rtlCol="0" anchor="t"/>
          <a:lstStyle/>
          <a:p>
            <a:pPr algn="l" indent="0" marL="0">
              <a:lnSpc>
                <a:spcPct val="129000"/>
              </a:lnSpc>
              <a:buNone/>
            </a:pPr>
            <a:r>
              <a:rPr lang="en-US" sz="1600" dirty="0">
                <a:solidFill>
                  <a:srgbClr val="2B2250"/>
                </a:solidFill>
                <a:latin typeface="Host Grotesk" pitchFamily="34" charset="0"/>
                <a:ea typeface="Host Grotesk" pitchFamily="34" charset="-122"/>
                <a:cs typeface="Host Grotesk" pitchFamily="34" charset="-120"/>
              </a:rPr>
              <a:t>Average purchase amount</a:t>
            </a:r>
            <a:endParaRPr lang="en-US" sz="1600" dirty="0"/>
          </a:p>
        </p:txBody>
      </p:sp>
      <p:sp>
        <p:nvSpPr>
          <p:cNvPr id="7" name="Text 5"/>
          <p:cNvSpPr/>
          <p:nvPr/>
        </p:nvSpPr>
        <p:spPr>
          <a:xfrm>
            <a:off x="5227110" y="2139156"/>
            <a:ext cx="2834609" cy="812800"/>
          </a:xfrm>
          <a:prstGeom prst="rect">
            <a:avLst/>
          </a:prstGeom>
          <a:noFill/>
          <a:ln/>
        </p:spPr>
        <p:txBody>
          <a:bodyPr wrap="none" lIns="0" tIns="0" rIns="0" bIns="0" rtlCol="0" anchor="t"/>
          <a:lstStyle/>
          <a:p>
            <a:pPr algn="l" indent="0" marL="0">
              <a:lnSpc>
                <a:spcPct val="83000"/>
              </a:lnSpc>
              <a:buNone/>
            </a:pPr>
            <a:r>
              <a:rPr lang="en-US" sz="6400" spc="-64" kern="100" dirty="0">
                <a:solidFill>
                  <a:srgbClr val="2B1B6B"/>
                </a:solidFill>
                <a:latin typeface="Host Grotesk Light" pitchFamily="34" charset="0"/>
                <a:ea typeface="Host Grotesk Light" pitchFamily="34" charset="-122"/>
                <a:cs typeface="Host Grotesk Light" pitchFamily="34" charset="-120"/>
              </a:rPr>
              <a:t>3.75</a:t>
            </a:r>
            <a:pPr algn="l" indent="0" marL="0">
              <a:lnSpc>
                <a:spcPct val="83000"/>
              </a:lnSpc>
              <a:buNone/>
            </a:pPr>
            <a:r>
              <a:rPr lang="en-US" sz="2400" spc="-64" kern="100" dirty="0">
                <a:solidFill>
                  <a:srgbClr val="2B1B6B"/>
                </a:solidFill>
                <a:latin typeface="Host Grotesk Light" pitchFamily="34" charset="0"/>
                <a:ea typeface="Host Grotesk Light" pitchFamily="34" charset="-122"/>
                <a:cs typeface="Host Grotesk Light" pitchFamily="34" charset="-120"/>
              </a:rPr>
              <a:t> / 5</a:t>
            </a:r>
            <a:endParaRPr lang="en-US" sz="6400" dirty="0"/>
          </a:p>
        </p:txBody>
      </p:sp>
      <p:sp>
        <p:nvSpPr>
          <p:cNvPr id="8" name="Text 6"/>
          <p:cNvSpPr/>
          <p:nvPr/>
        </p:nvSpPr>
        <p:spPr>
          <a:xfrm>
            <a:off x="5227110" y="3218656"/>
            <a:ext cx="3063203" cy="314920"/>
          </a:xfrm>
          <a:prstGeom prst="rect">
            <a:avLst/>
          </a:prstGeom>
          <a:noFill/>
          <a:ln/>
        </p:spPr>
        <p:txBody>
          <a:bodyPr wrap="none" lIns="0" tIns="0" rIns="0" bIns="0" rtlCol="0" anchor="t"/>
          <a:lstStyle/>
          <a:p>
            <a:pPr algn="l" indent="0" marL="0">
              <a:lnSpc>
                <a:spcPct val="129000"/>
              </a:lnSpc>
              <a:buNone/>
            </a:pPr>
            <a:r>
              <a:rPr lang="en-US" sz="1600" dirty="0">
                <a:solidFill>
                  <a:srgbClr val="2B2250"/>
                </a:solidFill>
                <a:latin typeface="Host Grotesk" pitchFamily="34" charset="0"/>
                <a:ea typeface="Host Grotesk" pitchFamily="34" charset="-122"/>
                <a:cs typeface="Host Grotesk" pitchFamily="34" charset="-120"/>
              </a:rPr>
              <a:t>Average review rating</a:t>
            </a:r>
            <a:endParaRPr lang="en-US" sz="1600" dirty="0"/>
          </a:p>
        </p:txBody>
      </p:sp>
      <p:sp>
        <p:nvSpPr>
          <p:cNvPr id="9" name="Text 7"/>
          <p:cNvSpPr/>
          <p:nvPr/>
        </p:nvSpPr>
        <p:spPr>
          <a:xfrm>
            <a:off x="8518907" y="2139156"/>
            <a:ext cx="3063203" cy="812800"/>
          </a:xfrm>
          <a:prstGeom prst="rect">
            <a:avLst/>
          </a:prstGeom>
          <a:noFill/>
          <a:ln/>
        </p:spPr>
        <p:txBody>
          <a:bodyPr wrap="none" lIns="0" tIns="0" rIns="0" bIns="0" rtlCol="0" anchor="t"/>
          <a:lstStyle/>
          <a:p>
            <a:pPr algn="l" indent="0" marL="0">
              <a:lnSpc>
                <a:spcPct val="83000"/>
              </a:lnSpc>
              <a:buNone/>
            </a:pPr>
            <a:r>
              <a:rPr lang="en-US" sz="6400" spc="-64" kern="100" dirty="0">
                <a:solidFill>
                  <a:srgbClr val="2B1B6B"/>
                </a:solidFill>
                <a:latin typeface="Host Grotesk Light" pitchFamily="34" charset="0"/>
                <a:ea typeface="Host Grotesk Light" pitchFamily="34" charset="-122"/>
                <a:cs typeface="Host Grotesk Light" pitchFamily="34" charset="-120"/>
              </a:rPr>
              <a:t>3.9K</a:t>
            </a:r>
            <a:endParaRPr lang="en-US" sz="6400" dirty="0"/>
          </a:p>
        </p:txBody>
      </p:sp>
      <p:sp>
        <p:nvSpPr>
          <p:cNvPr id="10" name="Text 8"/>
          <p:cNvSpPr/>
          <p:nvPr/>
        </p:nvSpPr>
        <p:spPr>
          <a:xfrm>
            <a:off x="8518907" y="3218656"/>
            <a:ext cx="3063203" cy="314920"/>
          </a:xfrm>
          <a:prstGeom prst="rect">
            <a:avLst/>
          </a:prstGeom>
          <a:noFill/>
          <a:ln/>
        </p:spPr>
        <p:txBody>
          <a:bodyPr wrap="none" lIns="0" tIns="0" rIns="0" bIns="0" rtlCol="0" anchor="t"/>
          <a:lstStyle/>
          <a:p>
            <a:pPr algn="l" indent="0" marL="0">
              <a:lnSpc>
                <a:spcPct val="129000"/>
              </a:lnSpc>
              <a:buNone/>
            </a:pPr>
            <a:r>
              <a:rPr lang="en-US" sz="1600" dirty="0">
                <a:solidFill>
                  <a:srgbClr val="2B2250"/>
                </a:solidFill>
                <a:latin typeface="Host Grotesk" pitchFamily="34" charset="0"/>
                <a:ea typeface="Host Grotesk" pitchFamily="34" charset="-122"/>
                <a:cs typeface="Host Grotesk" pitchFamily="34" charset="-120"/>
              </a:rPr>
              <a:t>Total customers</a:t>
            </a:r>
            <a:endParaRPr lang="en-US" sz="1600" dirty="0"/>
          </a:p>
        </p:txBody>
      </p:sp>
      <p:sp>
        <p:nvSpPr>
          <p:cNvPr id="11" name="Text 9"/>
          <p:cNvSpPr/>
          <p:nvPr/>
        </p:nvSpPr>
        <p:spPr>
          <a:xfrm>
            <a:off x="609585" y="3775273"/>
            <a:ext cx="7365816" cy="1259681"/>
          </a:xfrm>
          <a:prstGeom prst="rect">
            <a:avLst/>
          </a:prstGeom>
          <a:noFill/>
          <a:ln/>
        </p:spPr>
        <p:txBody>
          <a:bodyPr wrap="square" lIns="0" tIns="0" rIns="0" bIns="0" rtlCol="0" anchor="t">
            <a:normAutofit/>
          </a:bodyPr>
          <a:lstStyle/>
          <a:p>
            <a:pPr algn="l" indent="0" marL="0">
              <a:lnSpc>
                <a:spcPct val="129000"/>
              </a:lnSpc>
              <a:buNone/>
            </a:pPr>
            <a:r>
              <a:rPr lang="en-US" sz="1600" dirty="0">
                <a:solidFill>
                  <a:srgbClr val="2B2250"/>
                </a:solidFill>
                <a:latin typeface="Host Grotesk" pitchFamily="34" charset="0"/>
                <a:ea typeface="Host Grotesk" pitchFamily="34" charset="-122"/>
                <a:cs typeface="Host Grotesk" pitchFamily="34" charset="-120"/>
              </a:rPr>
              <a:t>A $59.76 average purchase means each order is mid-sized, so lifting basket size is the quickest revenue lever; a 3.75 / 5 rating signals satisfied but not delighted customers, leaving room to improve experience before it limits repeat buying.</a:t>
            </a:r>
            <a:endParaRPr lang="en-US" sz="1600" dirty="0"/>
          </a:p>
        </p:txBody>
      </p:sp>
      <p:sp>
        <p:nvSpPr>
          <p:cNvPr id="12" name="Shape 10"/>
          <p:cNvSpPr/>
          <p:nvPr/>
        </p:nvSpPr>
        <p:spPr>
          <a:xfrm>
            <a:off x="609585" y="5503267"/>
            <a:ext cx="10972526" cy="12601"/>
          </a:xfrm>
          <a:prstGeom prst="roundRect">
            <a:avLst>
              <a:gd name="adj" fmla="val 49998"/>
            </a:avLst>
          </a:prstGeom>
          <a:solidFill>
            <a:srgbClr val="5B3FA0">
              <a:alpha val="28000"/>
            </a:srgbClr>
          </a:solidFill>
          <a:ln/>
        </p:spPr>
      </p:sp>
      <p:sp>
        <p:nvSpPr>
          <p:cNvPr id="13" name="Text 11"/>
          <p:cNvSpPr/>
          <p:nvPr/>
        </p:nvSpPr>
        <p:spPr>
          <a:xfrm>
            <a:off x="609585" y="5984280"/>
            <a:ext cx="11582110" cy="264120"/>
          </a:xfrm>
          <a:prstGeom prst="rect">
            <a:avLst/>
          </a:prstGeom>
          <a:noFill/>
          <a:ln/>
        </p:spPr>
        <p:txBody>
          <a:bodyPr wrap="none" lIns="0" tIns="0" rIns="0" bIns="0" rtlCol="0" anchor="t"/>
          <a:lstStyle/>
          <a:p>
            <a:pPr algn="l" indent="0" marL="0">
              <a:lnSpc>
                <a:spcPct val="133000"/>
              </a:lnSpc>
              <a:buNone/>
            </a:pPr>
            <a:r>
              <a:rPr lang="en-US" sz="1300" spc="26" kern="100" dirty="0">
                <a:solidFill>
                  <a:srgbClr val="6B5F95"/>
                </a:solidFill>
                <a:latin typeface="Host Grotesk" pitchFamily="34" charset="0"/>
                <a:ea typeface="Host Grotesk" pitchFamily="34" charset="-122"/>
                <a:cs typeface="Host Grotesk" pitchFamily="34" charset="-120"/>
              </a:rPr>
              <a:t>Source: customer shopping dashboard</a:t>
            </a:r>
            <a:endParaRPr lang="en-US" sz="1300" dirty="0"/>
          </a:p>
        </p:txBody>
      </p:sp>
      <p:sp>
        <p:nvSpPr>
          <p:cNvPr id="14" name="Shape 12"/>
          <p:cNvSpPr/>
          <p:nvPr/>
        </p:nvSpPr>
        <p:spPr>
          <a:xfrm>
            <a:off x="4992166" y="2139156"/>
            <a:ext cx="12700" cy="1521420"/>
          </a:xfrm>
          <a:prstGeom prst="rect">
            <a:avLst/>
          </a:prstGeom>
          <a:solidFill>
            <a:srgbClr val="E9DFFF"/>
          </a:solidFill>
          <a:ln/>
        </p:spPr>
      </p:sp>
      <p:sp>
        <p:nvSpPr>
          <p:cNvPr id="15" name="Shape 13"/>
          <p:cNvSpPr/>
          <p:nvPr/>
        </p:nvSpPr>
        <p:spPr>
          <a:xfrm>
            <a:off x="8283963" y="2139156"/>
            <a:ext cx="12700" cy="1521420"/>
          </a:xfrm>
          <a:prstGeom prst="rect">
            <a:avLst/>
          </a:prstGeom>
          <a:solidFill>
            <a:srgbClr val="E9DFFF"/>
          </a:solidFill>
          <a:ln/>
        </p:spPr>
      </p:sp>
      <p:sp>
        <p:nvSpPr>
          <p:cNvPr id="16" name="Text 14"/>
          <p:cNvSpPr/>
          <p:nvPr/>
        </p:nvSpPr>
        <p:spPr>
          <a:xfrm>
            <a:off x="11756235" y="6444952"/>
            <a:ext cx="435460" cy="216495"/>
          </a:xfrm>
          <a:prstGeom prst="rect">
            <a:avLst/>
          </a:prstGeom>
          <a:noFill/>
          <a:ln/>
        </p:spPr>
        <p:txBody>
          <a:bodyPr wrap="none" lIns="0" tIns="0" rIns="0" bIns="0" rtlCol="0" anchor="ctr"/>
          <a:lstStyle/>
          <a:p>
            <a:pPr algn="l" indent="0" marL="0">
              <a:lnSpc>
                <a:spcPct val="129000"/>
              </a:lnSpc>
              <a:buNone/>
            </a:pPr>
            <a:r>
              <a:rPr lang="en-US" sz="1100" spc="198" kern="100" dirty="0">
                <a:solidFill>
                  <a:srgbClr val="2B1B6B"/>
                </a:solidFill>
                <a:latin typeface="Host Grotesk Medium" pitchFamily="34" charset="0"/>
                <a:ea typeface="Host Grotesk Medium" pitchFamily="34" charset="-122"/>
                <a:cs typeface="Host Grotesk Medium"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609600"/>
            <a:ext cx="11582110" cy="274241"/>
          </a:xfrm>
          <a:prstGeom prst="rect">
            <a:avLst/>
          </a:prstGeom>
          <a:noFill/>
          <a:ln/>
        </p:spPr>
        <p:txBody>
          <a:bodyPr wrap="none" lIns="0" tIns="0" rIns="0" bIns="0" rtlCol="0" anchor="t"/>
          <a:lstStyle/>
          <a:p>
            <a:pPr algn="l" indent="0" marL="0">
              <a:lnSpc>
                <a:spcPct val="150000"/>
              </a:lnSpc>
              <a:buNone/>
            </a:pPr>
            <a:r>
              <a:rPr lang="en-US" sz="1200" spc="120" kern="100" dirty="0">
                <a:solidFill>
                  <a:srgbClr val="7C3AED"/>
                </a:solidFill>
                <a:latin typeface="Host Grotesk Medium" pitchFamily="34" charset="0"/>
                <a:ea typeface="Host Grotesk Medium" pitchFamily="34" charset="-122"/>
                <a:cs typeface="Host Grotesk Medium" pitchFamily="34" charset="-120"/>
              </a:rPr>
              <a:t>CATEGORY PERFORMANCE</a:t>
            </a:r>
            <a:endParaRPr lang="en-US" sz="1200" dirty="0"/>
          </a:p>
        </p:txBody>
      </p:sp>
      <p:sp>
        <p:nvSpPr>
          <p:cNvPr id="3" name="Text 1"/>
          <p:cNvSpPr/>
          <p:nvPr/>
        </p:nvSpPr>
        <p:spPr>
          <a:xfrm>
            <a:off x="609585" y="991791"/>
            <a:ext cx="10972526" cy="426641"/>
          </a:xfrm>
          <a:prstGeom prst="rect">
            <a:avLst/>
          </a:prstGeom>
          <a:noFill/>
          <a:ln/>
        </p:spPr>
        <p:txBody>
          <a:bodyPr wrap="none" lIns="0" tIns="0" rIns="0" bIns="0" rtlCol="0" anchor="t"/>
          <a:lstStyle/>
          <a:p>
            <a:pPr algn="l" indent="0" marL="0">
              <a:lnSpc>
                <a:spcPct val="93000"/>
              </a:lnSpc>
              <a:buNone/>
            </a:pPr>
            <a:r>
              <a:rPr lang="en-US" sz="3000" spc="-15" kern="100" dirty="0">
                <a:solidFill>
                  <a:srgbClr val="2B1B6B"/>
                </a:solidFill>
                <a:latin typeface="Host Grotesk Light" pitchFamily="34" charset="0"/>
                <a:ea typeface="Host Grotesk Light" pitchFamily="34" charset="-122"/>
                <a:cs typeface="Host Grotesk Light" pitchFamily="34" charset="-120"/>
              </a:rPr>
              <a:t>Clothing carries revenue, and Outerwear lags far behind</a:t>
            </a:r>
            <a:endParaRPr lang="en-US" sz="3000" dirty="0"/>
          </a:p>
        </p:txBody>
      </p:sp>
      <p:sp>
        <p:nvSpPr>
          <p:cNvPr id="4" name="Shape 2"/>
          <p:cNvSpPr/>
          <p:nvPr/>
        </p:nvSpPr>
        <p:spPr>
          <a:xfrm>
            <a:off x="609585" y="1734344"/>
            <a:ext cx="10972526" cy="12601"/>
          </a:xfrm>
          <a:prstGeom prst="roundRect">
            <a:avLst>
              <a:gd name="adj" fmla="val 49998"/>
            </a:avLst>
          </a:prstGeom>
          <a:solidFill>
            <a:srgbClr val="2B1B6B"/>
          </a:solidFill>
          <a:ln/>
        </p:spPr>
      </p:sp>
      <p:sp>
        <p:nvSpPr>
          <p:cNvPr id="5" name="Text 3"/>
          <p:cNvSpPr/>
          <p:nvPr/>
        </p:nvSpPr>
        <p:spPr>
          <a:xfrm>
            <a:off x="609585" y="2037556"/>
            <a:ext cx="11582110" cy="264120"/>
          </a:xfrm>
          <a:prstGeom prst="rect">
            <a:avLst/>
          </a:prstGeom>
          <a:noFill/>
          <a:ln/>
        </p:spPr>
        <p:txBody>
          <a:bodyPr wrap="none" lIns="0" tIns="0" rIns="0" bIns="0" rtlCol="0" anchor="t"/>
          <a:lstStyle/>
          <a:p>
            <a:pPr algn="l" indent="0" marL="0">
              <a:lnSpc>
                <a:spcPct val="133000"/>
              </a:lnSpc>
              <a:buNone/>
            </a:pPr>
            <a:r>
              <a:rPr lang="en-US" sz="1300" spc="26" kern="100" dirty="0">
                <a:solidFill>
                  <a:srgbClr val="6B5F95"/>
                </a:solidFill>
                <a:latin typeface="Host Grotesk" pitchFamily="34" charset="0"/>
                <a:ea typeface="Host Grotesk" pitchFamily="34" charset="-122"/>
                <a:cs typeface="Host Grotesk" pitchFamily="34" charset="-120"/>
              </a:rPr>
              <a:t>Approximate revenue by category (USD), read from dashboard chart gridlines</a:t>
            </a:r>
            <a:endParaRPr lang="en-US" sz="1300" dirty="0"/>
          </a:p>
        </p:txBody>
      </p:sp>
      <p:pic>
        <p:nvPicPr>
          <p:cNvPr id="6" name="Image 0" descr="preencoded.png">    </p:cNvPr>
          <p:cNvPicPr>
            <a:picLocks noChangeAspect="1"/>
          </p:cNvPicPr>
          <p:nvPr/>
        </p:nvPicPr>
        <p:blipFill>
          <a:blip r:embed="rId1"/>
          <a:stretch>
            <a:fillRect/>
          </a:stretch>
        </p:blipFill>
        <p:spPr>
          <a:xfrm>
            <a:off x="609585" y="2542977"/>
            <a:ext cx="10540736" cy="2667794"/>
          </a:xfrm>
          <a:prstGeom prst="rect">
            <a:avLst/>
          </a:prstGeom>
        </p:spPr>
      </p:pic>
      <p:sp>
        <p:nvSpPr>
          <p:cNvPr id="7" name="Text 4"/>
          <p:cNvSpPr/>
          <p:nvPr/>
        </p:nvSpPr>
        <p:spPr>
          <a:xfrm>
            <a:off x="609585" y="5452070"/>
            <a:ext cx="11582110" cy="314920"/>
          </a:xfrm>
          <a:prstGeom prst="rect">
            <a:avLst/>
          </a:prstGeom>
          <a:noFill/>
          <a:ln/>
        </p:spPr>
        <p:txBody>
          <a:bodyPr wrap="none" lIns="0" tIns="0" rIns="0" bIns="0" rtlCol="0" anchor="t"/>
          <a:lstStyle/>
          <a:p>
            <a:pPr algn="l" indent="0" marL="0">
              <a:lnSpc>
                <a:spcPct val="129000"/>
              </a:lnSpc>
              <a:buNone/>
            </a:pPr>
            <a:r>
              <a:rPr lang="en-US" sz="1600" dirty="0">
                <a:solidFill>
                  <a:srgbClr val="2B2250"/>
                </a:solidFill>
                <a:latin typeface="Host Grotesk" pitchFamily="34" charset="0"/>
                <a:ea typeface="Host Grotesk" pitchFamily="34" charset="-122"/>
                <a:cs typeface="Host Grotesk" pitchFamily="34" charset="-120"/>
              </a:rPr>
              <a:t>Clothing earns roughly $100K; Accessories about $75K; Footwear about $40K; Outerwear about $25K.</a:t>
            </a:r>
            <a:endParaRPr lang="en-US" sz="1600" dirty="0"/>
          </a:p>
        </p:txBody>
      </p:sp>
      <p:sp>
        <p:nvSpPr>
          <p:cNvPr id="8" name="Text 5"/>
          <p:cNvSpPr/>
          <p:nvPr/>
        </p:nvSpPr>
        <p:spPr>
          <a:xfrm>
            <a:off x="609585" y="6008291"/>
            <a:ext cx="11582110" cy="264120"/>
          </a:xfrm>
          <a:prstGeom prst="rect">
            <a:avLst/>
          </a:prstGeom>
          <a:noFill/>
          <a:ln/>
        </p:spPr>
        <p:txBody>
          <a:bodyPr wrap="none" lIns="0" tIns="0" rIns="0" bIns="0" rtlCol="0" anchor="t"/>
          <a:lstStyle/>
          <a:p>
            <a:pPr algn="l" indent="0" marL="0">
              <a:lnSpc>
                <a:spcPct val="133000"/>
              </a:lnSpc>
              <a:buNone/>
            </a:pPr>
            <a:r>
              <a:rPr lang="en-US" sz="1300" spc="26" kern="100" dirty="0">
                <a:solidFill>
                  <a:srgbClr val="6B5F95"/>
                </a:solidFill>
                <a:latin typeface="Host Grotesk" pitchFamily="34" charset="0"/>
                <a:ea typeface="Host Grotesk" pitchFamily="34" charset="-122"/>
                <a:cs typeface="Host Grotesk" pitchFamily="34" charset="-120"/>
              </a:rPr>
              <a:t>Sales volume follows the same order. Clothing accounts for 1,737 purchases.</a:t>
            </a:r>
            <a:endParaRPr lang="en-US" sz="1300" dirty="0"/>
          </a:p>
        </p:txBody>
      </p:sp>
      <p:sp>
        <p:nvSpPr>
          <p:cNvPr id="9" name="Text 6"/>
          <p:cNvSpPr/>
          <p:nvPr/>
        </p:nvSpPr>
        <p:spPr>
          <a:xfrm>
            <a:off x="11756235" y="6444952"/>
            <a:ext cx="435460" cy="216495"/>
          </a:xfrm>
          <a:prstGeom prst="rect">
            <a:avLst/>
          </a:prstGeom>
          <a:noFill/>
          <a:ln/>
        </p:spPr>
        <p:txBody>
          <a:bodyPr wrap="none" lIns="0" tIns="0" rIns="0" bIns="0" rtlCol="0" anchor="ctr"/>
          <a:lstStyle/>
          <a:p>
            <a:pPr algn="l" indent="0" marL="0">
              <a:lnSpc>
                <a:spcPct val="129000"/>
              </a:lnSpc>
              <a:buNone/>
            </a:pPr>
            <a:r>
              <a:rPr lang="en-US" sz="1100" spc="198" kern="100" dirty="0">
                <a:solidFill>
                  <a:srgbClr val="2B1B6B"/>
                </a:solidFill>
                <a:latin typeface="Host Grotesk Medium" pitchFamily="34" charset="0"/>
                <a:ea typeface="Host Grotesk Medium" pitchFamily="34" charset="-122"/>
                <a:cs typeface="Host Grotesk Medium"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609600"/>
            <a:ext cx="11582110" cy="274241"/>
          </a:xfrm>
          <a:prstGeom prst="rect">
            <a:avLst/>
          </a:prstGeom>
          <a:noFill/>
          <a:ln/>
        </p:spPr>
        <p:txBody>
          <a:bodyPr wrap="none" lIns="0" tIns="0" rIns="0" bIns="0" rtlCol="0" anchor="t"/>
          <a:lstStyle/>
          <a:p>
            <a:pPr algn="l" indent="0" marL="0">
              <a:lnSpc>
                <a:spcPct val="150000"/>
              </a:lnSpc>
              <a:buNone/>
            </a:pPr>
            <a:r>
              <a:rPr lang="en-US" sz="1200" spc="120" kern="100" dirty="0">
                <a:solidFill>
                  <a:srgbClr val="7C3AED"/>
                </a:solidFill>
                <a:latin typeface="Host Grotesk Medium" pitchFamily="34" charset="0"/>
                <a:ea typeface="Host Grotesk Medium" pitchFamily="34" charset="-122"/>
                <a:cs typeface="Host Grotesk Medium" pitchFamily="34" charset="-120"/>
              </a:rPr>
              <a:t>AGE-GROUP PERFORMANCE</a:t>
            </a:r>
            <a:endParaRPr lang="en-US" sz="1200" dirty="0"/>
          </a:p>
        </p:txBody>
      </p:sp>
      <p:sp>
        <p:nvSpPr>
          <p:cNvPr id="3" name="Text 1"/>
          <p:cNvSpPr/>
          <p:nvPr/>
        </p:nvSpPr>
        <p:spPr>
          <a:xfrm>
            <a:off x="609585" y="991791"/>
            <a:ext cx="10972526" cy="426641"/>
          </a:xfrm>
          <a:prstGeom prst="rect">
            <a:avLst/>
          </a:prstGeom>
          <a:noFill/>
          <a:ln/>
        </p:spPr>
        <p:txBody>
          <a:bodyPr wrap="none" lIns="0" tIns="0" rIns="0" bIns="0" rtlCol="0" anchor="t"/>
          <a:lstStyle/>
          <a:p>
            <a:pPr algn="l" indent="0" marL="0">
              <a:lnSpc>
                <a:spcPct val="93000"/>
              </a:lnSpc>
              <a:buNone/>
            </a:pPr>
            <a:r>
              <a:rPr lang="en-US" sz="3000" spc="-15" kern="100" dirty="0">
                <a:solidFill>
                  <a:srgbClr val="2B1B6B"/>
                </a:solidFill>
                <a:latin typeface="Host Grotesk Light" pitchFamily="34" charset="0"/>
                <a:ea typeface="Host Grotesk Light" pitchFamily="34" charset="-122"/>
                <a:cs typeface="Host Grotesk Light" pitchFamily="34" charset="-120"/>
              </a:rPr>
              <a:t>Young adults spend the most, but every age group is close</a:t>
            </a:r>
            <a:endParaRPr lang="en-US" sz="3000" dirty="0"/>
          </a:p>
        </p:txBody>
      </p:sp>
      <p:sp>
        <p:nvSpPr>
          <p:cNvPr id="4" name="Shape 2"/>
          <p:cNvSpPr/>
          <p:nvPr/>
        </p:nvSpPr>
        <p:spPr>
          <a:xfrm>
            <a:off x="609585" y="1785144"/>
            <a:ext cx="10972526" cy="12601"/>
          </a:xfrm>
          <a:prstGeom prst="roundRect">
            <a:avLst>
              <a:gd name="adj" fmla="val 49998"/>
            </a:avLst>
          </a:prstGeom>
          <a:solidFill>
            <a:srgbClr val="2B1B6B"/>
          </a:solidFill>
          <a:ln/>
        </p:spPr>
      </p:sp>
      <p:sp>
        <p:nvSpPr>
          <p:cNvPr id="5" name="Text 3"/>
          <p:cNvSpPr/>
          <p:nvPr/>
        </p:nvSpPr>
        <p:spPr>
          <a:xfrm>
            <a:off x="609585" y="2139156"/>
            <a:ext cx="11582110" cy="314920"/>
          </a:xfrm>
          <a:prstGeom prst="rect">
            <a:avLst/>
          </a:prstGeom>
          <a:noFill/>
          <a:ln/>
        </p:spPr>
        <p:txBody>
          <a:bodyPr wrap="none" lIns="0" tIns="0" rIns="0" bIns="0" rtlCol="0" anchor="t"/>
          <a:lstStyle/>
          <a:p>
            <a:pPr algn="l" indent="0" marL="0">
              <a:lnSpc>
                <a:spcPct val="129000"/>
              </a:lnSpc>
              <a:buNone/>
            </a:pPr>
            <a:r>
              <a:rPr lang="en-US" sz="1600" dirty="0">
                <a:solidFill>
                  <a:srgbClr val="2B2250"/>
                </a:solidFill>
                <a:latin typeface="Host Grotesk" pitchFamily="34" charset="0"/>
                <a:ea typeface="Host Grotesk" pitchFamily="34" charset="-122"/>
                <a:cs typeface="Host Grotesk" pitchFamily="34" charset="-120"/>
              </a:rPr>
              <a:t>Young Adult leads with roughly $65K revenue and about 950 sales.</a:t>
            </a:r>
            <a:endParaRPr lang="en-US" sz="1600" dirty="0"/>
          </a:p>
        </p:txBody>
      </p:sp>
      <p:sp>
        <p:nvSpPr>
          <p:cNvPr id="6" name="Shape 4"/>
          <p:cNvSpPr/>
          <p:nvPr/>
        </p:nvSpPr>
        <p:spPr>
          <a:xfrm>
            <a:off x="609585" y="2959398"/>
            <a:ext cx="2628834" cy="1730871"/>
          </a:xfrm>
          <a:prstGeom prst="rect">
            <a:avLst/>
          </a:prstGeom>
          <a:solidFill>
            <a:srgbClr val="E9DFFF"/>
          </a:solidFill>
          <a:ln/>
        </p:spPr>
      </p:sp>
      <p:sp>
        <p:nvSpPr>
          <p:cNvPr id="7" name="Shape 5"/>
          <p:cNvSpPr/>
          <p:nvPr/>
        </p:nvSpPr>
        <p:spPr>
          <a:xfrm>
            <a:off x="609585" y="2959398"/>
            <a:ext cx="2628834" cy="19050"/>
          </a:xfrm>
          <a:prstGeom prst="rect">
            <a:avLst/>
          </a:prstGeom>
          <a:solidFill>
            <a:srgbClr val="7C3AED"/>
          </a:solidFill>
          <a:ln/>
        </p:spPr>
      </p:sp>
      <p:sp>
        <p:nvSpPr>
          <p:cNvPr id="8" name="Shape 6"/>
          <p:cNvSpPr/>
          <p:nvPr/>
        </p:nvSpPr>
        <p:spPr>
          <a:xfrm>
            <a:off x="3232069" y="2959398"/>
            <a:ext cx="6350" cy="1730871"/>
          </a:xfrm>
          <a:prstGeom prst="rect">
            <a:avLst/>
          </a:prstGeom>
          <a:solidFill>
            <a:srgbClr val="5B3FA0">
              <a:alpha val="28000"/>
            </a:srgbClr>
          </a:solidFill>
          <a:ln/>
        </p:spPr>
      </p:sp>
      <p:sp>
        <p:nvSpPr>
          <p:cNvPr id="9" name="Shape 7"/>
          <p:cNvSpPr/>
          <p:nvPr/>
        </p:nvSpPr>
        <p:spPr>
          <a:xfrm>
            <a:off x="609585" y="4683919"/>
            <a:ext cx="2628834" cy="6350"/>
          </a:xfrm>
          <a:prstGeom prst="rect">
            <a:avLst/>
          </a:prstGeom>
          <a:solidFill>
            <a:srgbClr val="5B3FA0">
              <a:alpha val="28000"/>
            </a:srgbClr>
          </a:solidFill>
          <a:ln/>
        </p:spPr>
      </p:sp>
      <p:sp>
        <p:nvSpPr>
          <p:cNvPr id="10" name="Shape 8"/>
          <p:cNvSpPr/>
          <p:nvPr/>
        </p:nvSpPr>
        <p:spPr>
          <a:xfrm>
            <a:off x="609585" y="2959398"/>
            <a:ext cx="6350" cy="1730871"/>
          </a:xfrm>
          <a:prstGeom prst="rect">
            <a:avLst/>
          </a:prstGeom>
          <a:solidFill>
            <a:srgbClr val="5B3FA0">
              <a:alpha val="28000"/>
            </a:srgbClr>
          </a:solidFill>
          <a:ln/>
        </p:spPr>
      </p:sp>
      <p:sp>
        <p:nvSpPr>
          <p:cNvPr id="11" name="Text 9"/>
          <p:cNvSpPr/>
          <p:nvPr/>
        </p:nvSpPr>
        <p:spPr>
          <a:xfrm>
            <a:off x="844529" y="3207048"/>
            <a:ext cx="2393890" cy="274241"/>
          </a:xfrm>
          <a:prstGeom prst="rect">
            <a:avLst/>
          </a:prstGeom>
          <a:noFill/>
          <a:ln/>
        </p:spPr>
        <p:txBody>
          <a:bodyPr wrap="none" lIns="0" tIns="0" rIns="0" bIns="0" rtlCol="0" anchor="t"/>
          <a:lstStyle/>
          <a:p>
            <a:pPr algn="l" indent="0" marL="0">
              <a:lnSpc>
                <a:spcPct val="150000"/>
              </a:lnSpc>
              <a:buNone/>
            </a:pPr>
            <a:r>
              <a:rPr lang="en-US" sz="1200" spc="120" kern="100" dirty="0">
                <a:solidFill>
                  <a:srgbClr val="000000"/>
                </a:solidFill>
                <a:latin typeface="Host Grotesk Medium" pitchFamily="34" charset="0"/>
                <a:ea typeface="Host Grotesk Medium" pitchFamily="34" charset="-122"/>
                <a:cs typeface="Host Grotesk Medium" pitchFamily="34" charset="-120"/>
              </a:rPr>
              <a:t>YOUNG ADULT</a:t>
            </a:r>
            <a:endParaRPr lang="en-US" sz="1200" dirty="0"/>
          </a:p>
        </p:txBody>
      </p:sp>
      <p:sp>
        <p:nvSpPr>
          <p:cNvPr id="12" name="Text 10"/>
          <p:cNvSpPr/>
          <p:nvPr/>
        </p:nvSpPr>
        <p:spPr>
          <a:xfrm>
            <a:off x="844529" y="3589238"/>
            <a:ext cx="2158946" cy="482600"/>
          </a:xfrm>
          <a:prstGeom prst="rect">
            <a:avLst/>
          </a:prstGeom>
          <a:noFill/>
          <a:ln/>
        </p:spPr>
        <p:txBody>
          <a:bodyPr wrap="none" lIns="0" tIns="0" rIns="0" bIns="0" rtlCol="0" anchor="t"/>
          <a:lstStyle/>
          <a:p>
            <a:pPr algn="l" indent="0" marL="0">
              <a:lnSpc>
                <a:spcPct val="83000"/>
              </a:lnSpc>
              <a:buNone/>
            </a:pPr>
            <a:r>
              <a:rPr lang="en-US" sz="3800" spc="-38" kern="100" dirty="0">
                <a:solidFill>
                  <a:srgbClr val="000000"/>
                </a:solidFill>
                <a:latin typeface="Host Grotesk Light" pitchFamily="34" charset="0"/>
                <a:ea typeface="Host Grotesk Light" pitchFamily="34" charset="-122"/>
                <a:cs typeface="Host Grotesk Light" pitchFamily="34" charset="-120"/>
              </a:rPr>
              <a:t>$65K</a:t>
            </a:r>
            <a:endParaRPr lang="en-US" sz="3800" dirty="0"/>
          </a:p>
        </p:txBody>
      </p:sp>
      <p:sp>
        <p:nvSpPr>
          <p:cNvPr id="13" name="Text 11"/>
          <p:cNvSpPr/>
          <p:nvPr/>
        </p:nvSpPr>
        <p:spPr>
          <a:xfrm>
            <a:off x="844529" y="4179788"/>
            <a:ext cx="2393890" cy="275530"/>
          </a:xfrm>
          <a:prstGeom prst="rect">
            <a:avLst/>
          </a:prstGeom>
          <a:noFill/>
          <a:ln/>
        </p:spPr>
        <p:txBody>
          <a:bodyPr wrap="none" lIns="0" tIns="0" rIns="0" bIns="0" rtlCol="0" anchor="t"/>
          <a:lstStyle/>
          <a:p>
            <a:pPr algn="l" indent="0" marL="0">
              <a:lnSpc>
                <a:spcPct val="129000"/>
              </a:lnSpc>
              <a:buNone/>
            </a:pPr>
            <a:r>
              <a:rPr lang="en-US" sz="1400" dirty="0">
                <a:solidFill>
                  <a:srgbClr val="000000"/>
                </a:solidFill>
                <a:latin typeface="Host Grotesk" pitchFamily="34" charset="0"/>
                <a:ea typeface="Host Grotesk" pitchFamily="34" charset="-122"/>
                <a:cs typeface="Host Grotesk" pitchFamily="34" charset="-120"/>
              </a:rPr>
              <a:t>Roughly, in revenue</a:t>
            </a:r>
            <a:endParaRPr lang="en-US" sz="1400" dirty="0"/>
          </a:p>
        </p:txBody>
      </p:sp>
      <p:sp>
        <p:nvSpPr>
          <p:cNvPr id="14" name="Shape 12"/>
          <p:cNvSpPr/>
          <p:nvPr/>
        </p:nvSpPr>
        <p:spPr>
          <a:xfrm>
            <a:off x="3390815" y="2959398"/>
            <a:ext cx="2628834" cy="1730871"/>
          </a:xfrm>
          <a:prstGeom prst="rect">
            <a:avLst/>
          </a:prstGeom>
          <a:solidFill>
            <a:srgbClr val="E9DFFF"/>
          </a:solidFill>
          <a:ln w="6350">
            <a:solidFill>
              <a:srgbClr val="5B3FA0">
                <a:alpha val="28000"/>
              </a:srgbClr>
            </a:solidFill>
            <a:prstDash val="solid"/>
          </a:ln>
        </p:spPr>
      </p:sp>
      <p:sp>
        <p:nvSpPr>
          <p:cNvPr id="15" name="Text 13"/>
          <p:cNvSpPr/>
          <p:nvPr/>
        </p:nvSpPr>
        <p:spPr>
          <a:xfrm>
            <a:off x="3625759" y="3194348"/>
            <a:ext cx="2393890" cy="274241"/>
          </a:xfrm>
          <a:prstGeom prst="rect">
            <a:avLst/>
          </a:prstGeom>
          <a:noFill/>
          <a:ln/>
        </p:spPr>
        <p:txBody>
          <a:bodyPr wrap="none" lIns="0" tIns="0" rIns="0" bIns="0" rtlCol="0" anchor="t"/>
          <a:lstStyle/>
          <a:p>
            <a:pPr algn="l" indent="0" marL="0">
              <a:lnSpc>
                <a:spcPct val="150000"/>
              </a:lnSpc>
              <a:buNone/>
            </a:pPr>
            <a:r>
              <a:rPr lang="en-US" sz="1200" spc="120" kern="100" dirty="0">
                <a:solidFill>
                  <a:srgbClr val="000000"/>
                </a:solidFill>
                <a:latin typeface="Host Grotesk Medium" pitchFamily="34" charset="0"/>
                <a:ea typeface="Host Grotesk Medium" pitchFamily="34" charset="-122"/>
                <a:cs typeface="Host Grotesk Medium" pitchFamily="34" charset="-120"/>
              </a:rPr>
              <a:t>MIDDLE-AGED</a:t>
            </a:r>
            <a:endParaRPr lang="en-US" sz="1200" dirty="0"/>
          </a:p>
        </p:txBody>
      </p:sp>
      <p:sp>
        <p:nvSpPr>
          <p:cNvPr id="16" name="Text 14"/>
          <p:cNvSpPr/>
          <p:nvPr/>
        </p:nvSpPr>
        <p:spPr>
          <a:xfrm>
            <a:off x="3625759" y="3576538"/>
            <a:ext cx="2158946" cy="482600"/>
          </a:xfrm>
          <a:prstGeom prst="rect">
            <a:avLst/>
          </a:prstGeom>
          <a:noFill/>
          <a:ln/>
        </p:spPr>
        <p:txBody>
          <a:bodyPr wrap="none" lIns="0" tIns="0" rIns="0" bIns="0" rtlCol="0" anchor="t"/>
          <a:lstStyle/>
          <a:p>
            <a:pPr algn="l" indent="0" marL="0">
              <a:lnSpc>
                <a:spcPct val="83000"/>
              </a:lnSpc>
              <a:buNone/>
            </a:pPr>
            <a:r>
              <a:rPr lang="en-US" sz="3800" spc="-38" kern="100" dirty="0">
                <a:solidFill>
                  <a:srgbClr val="000000"/>
                </a:solidFill>
                <a:latin typeface="Host Grotesk Light" pitchFamily="34" charset="0"/>
                <a:ea typeface="Host Grotesk Light" pitchFamily="34" charset="-122"/>
                <a:cs typeface="Host Grotesk Light" pitchFamily="34" charset="-120"/>
              </a:rPr>
              <a:t>$60K</a:t>
            </a:r>
            <a:endParaRPr lang="en-US" sz="3800" dirty="0"/>
          </a:p>
        </p:txBody>
      </p:sp>
      <p:sp>
        <p:nvSpPr>
          <p:cNvPr id="17" name="Text 15"/>
          <p:cNvSpPr/>
          <p:nvPr/>
        </p:nvSpPr>
        <p:spPr>
          <a:xfrm>
            <a:off x="3625759" y="4167088"/>
            <a:ext cx="2393890" cy="275530"/>
          </a:xfrm>
          <a:prstGeom prst="rect">
            <a:avLst/>
          </a:prstGeom>
          <a:noFill/>
          <a:ln/>
        </p:spPr>
        <p:txBody>
          <a:bodyPr wrap="none" lIns="0" tIns="0" rIns="0" bIns="0" rtlCol="0" anchor="t"/>
          <a:lstStyle/>
          <a:p>
            <a:pPr algn="l" indent="0" marL="0">
              <a:lnSpc>
                <a:spcPct val="129000"/>
              </a:lnSpc>
              <a:buNone/>
            </a:pPr>
            <a:r>
              <a:rPr lang="en-US" sz="1400" dirty="0">
                <a:solidFill>
                  <a:srgbClr val="000000"/>
                </a:solidFill>
                <a:latin typeface="Host Grotesk" pitchFamily="34" charset="0"/>
                <a:ea typeface="Host Grotesk" pitchFamily="34" charset="-122"/>
                <a:cs typeface="Host Grotesk" pitchFamily="34" charset="-120"/>
              </a:rPr>
              <a:t>About, in revenue</a:t>
            </a:r>
            <a:endParaRPr lang="en-US" sz="1400" dirty="0"/>
          </a:p>
        </p:txBody>
      </p:sp>
      <p:sp>
        <p:nvSpPr>
          <p:cNvPr id="18" name="Shape 16"/>
          <p:cNvSpPr/>
          <p:nvPr/>
        </p:nvSpPr>
        <p:spPr>
          <a:xfrm>
            <a:off x="6172046" y="2959398"/>
            <a:ext cx="2628834" cy="1730871"/>
          </a:xfrm>
          <a:prstGeom prst="rect">
            <a:avLst/>
          </a:prstGeom>
          <a:solidFill>
            <a:srgbClr val="E9DFFF"/>
          </a:solidFill>
          <a:ln w="6350">
            <a:solidFill>
              <a:srgbClr val="5B3FA0">
                <a:alpha val="28000"/>
              </a:srgbClr>
            </a:solidFill>
            <a:prstDash val="solid"/>
          </a:ln>
        </p:spPr>
      </p:sp>
      <p:sp>
        <p:nvSpPr>
          <p:cNvPr id="19" name="Text 17"/>
          <p:cNvSpPr/>
          <p:nvPr/>
        </p:nvSpPr>
        <p:spPr>
          <a:xfrm>
            <a:off x="6406990" y="3194348"/>
            <a:ext cx="2393890" cy="274241"/>
          </a:xfrm>
          <a:prstGeom prst="rect">
            <a:avLst/>
          </a:prstGeom>
          <a:noFill/>
          <a:ln/>
        </p:spPr>
        <p:txBody>
          <a:bodyPr wrap="none" lIns="0" tIns="0" rIns="0" bIns="0" rtlCol="0" anchor="t"/>
          <a:lstStyle/>
          <a:p>
            <a:pPr algn="l" indent="0" marL="0">
              <a:lnSpc>
                <a:spcPct val="150000"/>
              </a:lnSpc>
              <a:buNone/>
            </a:pPr>
            <a:r>
              <a:rPr lang="en-US" sz="1200" spc="120" kern="100" dirty="0">
                <a:solidFill>
                  <a:srgbClr val="000000"/>
                </a:solidFill>
                <a:latin typeface="Host Grotesk Medium" pitchFamily="34" charset="0"/>
                <a:ea typeface="Host Grotesk Medium" pitchFamily="34" charset="-122"/>
                <a:cs typeface="Host Grotesk Medium" pitchFamily="34" charset="-120"/>
              </a:rPr>
              <a:t>ADULT</a:t>
            </a:r>
            <a:endParaRPr lang="en-US" sz="1200" dirty="0"/>
          </a:p>
        </p:txBody>
      </p:sp>
      <p:sp>
        <p:nvSpPr>
          <p:cNvPr id="20" name="Text 18"/>
          <p:cNvSpPr/>
          <p:nvPr/>
        </p:nvSpPr>
        <p:spPr>
          <a:xfrm>
            <a:off x="6406990" y="3576538"/>
            <a:ext cx="2158946" cy="482600"/>
          </a:xfrm>
          <a:prstGeom prst="rect">
            <a:avLst/>
          </a:prstGeom>
          <a:noFill/>
          <a:ln/>
        </p:spPr>
        <p:txBody>
          <a:bodyPr wrap="none" lIns="0" tIns="0" rIns="0" bIns="0" rtlCol="0" anchor="t"/>
          <a:lstStyle/>
          <a:p>
            <a:pPr algn="l" indent="0" marL="0">
              <a:lnSpc>
                <a:spcPct val="83000"/>
              </a:lnSpc>
              <a:buNone/>
            </a:pPr>
            <a:r>
              <a:rPr lang="en-US" sz="3800" spc="-38" kern="100" dirty="0">
                <a:solidFill>
                  <a:srgbClr val="000000"/>
                </a:solidFill>
                <a:latin typeface="Host Grotesk Light" pitchFamily="34" charset="0"/>
                <a:ea typeface="Host Grotesk Light" pitchFamily="34" charset="-122"/>
                <a:cs typeface="Host Grotesk Light" pitchFamily="34" charset="-120"/>
              </a:rPr>
              <a:t>$55K</a:t>
            </a:r>
            <a:endParaRPr lang="en-US" sz="3800" dirty="0"/>
          </a:p>
        </p:txBody>
      </p:sp>
      <p:sp>
        <p:nvSpPr>
          <p:cNvPr id="21" name="Text 19"/>
          <p:cNvSpPr/>
          <p:nvPr/>
        </p:nvSpPr>
        <p:spPr>
          <a:xfrm>
            <a:off x="6406990" y="4167088"/>
            <a:ext cx="2393890" cy="275530"/>
          </a:xfrm>
          <a:prstGeom prst="rect">
            <a:avLst/>
          </a:prstGeom>
          <a:noFill/>
          <a:ln/>
        </p:spPr>
        <p:txBody>
          <a:bodyPr wrap="none" lIns="0" tIns="0" rIns="0" bIns="0" rtlCol="0" anchor="t"/>
          <a:lstStyle/>
          <a:p>
            <a:pPr algn="l" indent="0" marL="0">
              <a:lnSpc>
                <a:spcPct val="129000"/>
              </a:lnSpc>
              <a:buNone/>
            </a:pPr>
            <a:r>
              <a:rPr lang="en-US" sz="1400" dirty="0">
                <a:solidFill>
                  <a:srgbClr val="000000"/>
                </a:solidFill>
                <a:latin typeface="Host Grotesk" pitchFamily="34" charset="0"/>
                <a:ea typeface="Host Grotesk" pitchFamily="34" charset="-122"/>
                <a:cs typeface="Host Grotesk" pitchFamily="34" charset="-120"/>
              </a:rPr>
              <a:t>About, in revenue</a:t>
            </a:r>
            <a:endParaRPr lang="en-US" sz="1400" dirty="0"/>
          </a:p>
        </p:txBody>
      </p:sp>
      <p:sp>
        <p:nvSpPr>
          <p:cNvPr id="22" name="Shape 20"/>
          <p:cNvSpPr/>
          <p:nvPr/>
        </p:nvSpPr>
        <p:spPr>
          <a:xfrm>
            <a:off x="8953276" y="2959398"/>
            <a:ext cx="2628834" cy="1730871"/>
          </a:xfrm>
          <a:prstGeom prst="rect">
            <a:avLst/>
          </a:prstGeom>
          <a:solidFill>
            <a:srgbClr val="E9DFFF"/>
          </a:solidFill>
          <a:ln w="6350">
            <a:solidFill>
              <a:srgbClr val="5B3FA0">
                <a:alpha val="28000"/>
              </a:srgbClr>
            </a:solidFill>
            <a:prstDash val="solid"/>
          </a:ln>
        </p:spPr>
      </p:sp>
      <p:sp>
        <p:nvSpPr>
          <p:cNvPr id="23" name="Text 21"/>
          <p:cNvSpPr/>
          <p:nvPr/>
        </p:nvSpPr>
        <p:spPr>
          <a:xfrm>
            <a:off x="9188220" y="3194348"/>
            <a:ext cx="2393890" cy="274241"/>
          </a:xfrm>
          <a:prstGeom prst="rect">
            <a:avLst/>
          </a:prstGeom>
          <a:noFill/>
          <a:ln/>
        </p:spPr>
        <p:txBody>
          <a:bodyPr wrap="none" lIns="0" tIns="0" rIns="0" bIns="0" rtlCol="0" anchor="t"/>
          <a:lstStyle/>
          <a:p>
            <a:pPr algn="l" indent="0" marL="0">
              <a:lnSpc>
                <a:spcPct val="150000"/>
              </a:lnSpc>
              <a:buNone/>
            </a:pPr>
            <a:r>
              <a:rPr lang="en-US" sz="1200" spc="120" kern="100" dirty="0">
                <a:solidFill>
                  <a:srgbClr val="000000"/>
                </a:solidFill>
                <a:latin typeface="Host Grotesk Medium" pitchFamily="34" charset="0"/>
                <a:ea typeface="Host Grotesk Medium" pitchFamily="34" charset="-122"/>
                <a:cs typeface="Host Grotesk Medium" pitchFamily="34" charset="-120"/>
              </a:rPr>
              <a:t>SENIOR</a:t>
            </a:r>
            <a:endParaRPr lang="en-US" sz="1200" dirty="0"/>
          </a:p>
        </p:txBody>
      </p:sp>
      <p:sp>
        <p:nvSpPr>
          <p:cNvPr id="24" name="Text 22"/>
          <p:cNvSpPr/>
          <p:nvPr/>
        </p:nvSpPr>
        <p:spPr>
          <a:xfrm>
            <a:off x="9188220" y="3576538"/>
            <a:ext cx="2158946" cy="482600"/>
          </a:xfrm>
          <a:prstGeom prst="rect">
            <a:avLst/>
          </a:prstGeom>
          <a:noFill/>
          <a:ln/>
        </p:spPr>
        <p:txBody>
          <a:bodyPr wrap="none" lIns="0" tIns="0" rIns="0" bIns="0" rtlCol="0" anchor="t"/>
          <a:lstStyle/>
          <a:p>
            <a:pPr algn="l" indent="0" marL="0">
              <a:lnSpc>
                <a:spcPct val="83000"/>
              </a:lnSpc>
              <a:buNone/>
            </a:pPr>
            <a:r>
              <a:rPr lang="en-US" sz="3800" spc="-38" kern="100" dirty="0">
                <a:solidFill>
                  <a:srgbClr val="000000"/>
                </a:solidFill>
                <a:latin typeface="Host Grotesk Light" pitchFamily="34" charset="0"/>
                <a:ea typeface="Host Grotesk Light" pitchFamily="34" charset="-122"/>
                <a:cs typeface="Host Grotesk Light" pitchFamily="34" charset="-120"/>
              </a:rPr>
              <a:t>$55K</a:t>
            </a:r>
            <a:endParaRPr lang="en-US" sz="3800" dirty="0"/>
          </a:p>
        </p:txBody>
      </p:sp>
      <p:sp>
        <p:nvSpPr>
          <p:cNvPr id="25" name="Text 23"/>
          <p:cNvSpPr/>
          <p:nvPr/>
        </p:nvSpPr>
        <p:spPr>
          <a:xfrm>
            <a:off x="9188220" y="4167088"/>
            <a:ext cx="2393890" cy="275530"/>
          </a:xfrm>
          <a:prstGeom prst="rect">
            <a:avLst/>
          </a:prstGeom>
          <a:noFill/>
          <a:ln/>
        </p:spPr>
        <p:txBody>
          <a:bodyPr wrap="none" lIns="0" tIns="0" rIns="0" bIns="0" rtlCol="0" anchor="t"/>
          <a:lstStyle/>
          <a:p>
            <a:pPr algn="l" indent="0" marL="0">
              <a:lnSpc>
                <a:spcPct val="129000"/>
              </a:lnSpc>
              <a:buNone/>
            </a:pPr>
            <a:r>
              <a:rPr lang="en-US" sz="1400" dirty="0">
                <a:solidFill>
                  <a:srgbClr val="000000"/>
                </a:solidFill>
                <a:latin typeface="Host Grotesk" pitchFamily="34" charset="0"/>
                <a:ea typeface="Host Grotesk" pitchFamily="34" charset="-122"/>
                <a:cs typeface="Host Grotesk" pitchFamily="34" charset="-120"/>
              </a:rPr>
              <a:t>About, in revenue</a:t>
            </a:r>
            <a:endParaRPr lang="en-US" sz="1400" dirty="0"/>
          </a:p>
        </p:txBody>
      </p:sp>
      <p:sp>
        <p:nvSpPr>
          <p:cNvPr id="26" name="Text 24"/>
          <p:cNvSpPr/>
          <p:nvPr/>
        </p:nvSpPr>
        <p:spPr>
          <a:xfrm>
            <a:off x="609585" y="4995069"/>
            <a:ext cx="10972526" cy="747911"/>
          </a:xfrm>
          <a:prstGeom prst="rect">
            <a:avLst/>
          </a:prstGeom>
          <a:noFill/>
          <a:ln/>
        </p:spPr>
        <p:txBody>
          <a:bodyPr wrap="square" lIns="0" tIns="0" rIns="0" bIns="0" rtlCol="0" anchor="t">
            <a:normAutofit/>
          </a:bodyPr>
          <a:lstStyle/>
          <a:p>
            <a:pPr algn="l" indent="0" marL="0">
              <a:lnSpc>
                <a:spcPct val="129000"/>
              </a:lnSpc>
              <a:buNone/>
            </a:pPr>
            <a:r>
              <a:rPr lang="en-US" sz="1900" dirty="0">
                <a:solidFill>
                  <a:srgbClr val="2B2250"/>
                </a:solidFill>
                <a:latin typeface="Host Grotesk" pitchFamily="34" charset="0"/>
                <a:ea typeface="Host Grotesk" pitchFamily="34" charset="-122"/>
                <a:cs typeface="Host Grotesk" pitchFamily="34" charset="-120"/>
              </a:rPr>
              <a:t>A $55K–$65K spread means every age group is worth serving, so age alone is a weak targeting lever; use Young Adults for pilot offers.</a:t>
            </a:r>
            <a:endParaRPr lang="en-US" sz="1900" dirty="0"/>
          </a:p>
        </p:txBody>
      </p:sp>
      <p:sp>
        <p:nvSpPr>
          <p:cNvPr id="27" name="Text 25"/>
          <p:cNvSpPr/>
          <p:nvPr/>
        </p:nvSpPr>
        <p:spPr>
          <a:xfrm>
            <a:off x="609585" y="5984280"/>
            <a:ext cx="11582110" cy="264120"/>
          </a:xfrm>
          <a:prstGeom prst="rect">
            <a:avLst/>
          </a:prstGeom>
          <a:noFill/>
          <a:ln/>
        </p:spPr>
        <p:txBody>
          <a:bodyPr wrap="none" lIns="0" tIns="0" rIns="0" bIns="0" rtlCol="0" anchor="t"/>
          <a:lstStyle/>
          <a:p>
            <a:pPr algn="l" indent="0" marL="0">
              <a:lnSpc>
                <a:spcPct val="133000"/>
              </a:lnSpc>
              <a:buNone/>
            </a:pPr>
            <a:r>
              <a:rPr lang="en-US" sz="1300" spc="26" kern="100" dirty="0">
                <a:solidFill>
                  <a:srgbClr val="6B5F95"/>
                </a:solidFill>
                <a:latin typeface="Host Grotesk" pitchFamily="34" charset="0"/>
                <a:ea typeface="Host Grotesk" pitchFamily="34" charset="-122"/>
                <a:cs typeface="Host Grotesk" pitchFamily="34" charset="-120"/>
              </a:rPr>
              <a:t>Source: dashboard chart gridlines; all revenue figures are approximate</a:t>
            </a:r>
            <a:endParaRPr lang="en-US" sz="1300" dirty="0"/>
          </a:p>
        </p:txBody>
      </p:sp>
      <p:sp>
        <p:nvSpPr>
          <p:cNvPr id="28" name="Text 26"/>
          <p:cNvSpPr/>
          <p:nvPr/>
        </p:nvSpPr>
        <p:spPr>
          <a:xfrm>
            <a:off x="11756235" y="6444952"/>
            <a:ext cx="435460" cy="216495"/>
          </a:xfrm>
          <a:prstGeom prst="rect">
            <a:avLst/>
          </a:prstGeom>
          <a:noFill/>
          <a:ln/>
        </p:spPr>
        <p:txBody>
          <a:bodyPr wrap="none" lIns="0" tIns="0" rIns="0" bIns="0" rtlCol="0" anchor="ctr"/>
          <a:lstStyle/>
          <a:p>
            <a:pPr algn="l" indent="0" marL="0">
              <a:lnSpc>
                <a:spcPct val="129000"/>
              </a:lnSpc>
              <a:buNone/>
            </a:pPr>
            <a:r>
              <a:rPr lang="en-US" sz="1100" spc="198" kern="100" dirty="0">
                <a:solidFill>
                  <a:srgbClr val="2B1B6B"/>
                </a:solidFill>
                <a:latin typeface="Host Grotesk Medium" pitchFamily="34" charset="0"/>
                <a:ea typeface="Host Grotesk Medium" pitchFamily="34" charset="-122"/>
                <a:cs typeface="Host Grotesk Medium"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609600"/>
            <a:ext cx="11582110" cy="274241"/>
          </a:xfrm>
          <a:prstGeom prst="rect">
            <a:avLst/>
          </a:prstGeom>
          <a:noFill/>
          <a:ln/>
        </p:spPr>
        <p:txBody>
          <a:bodyPr wrap="none" lIns="0" tIns="0" rIns="0" bIns="0" rtlCol="0" anchor="t"/>
          <a:lstStyle/>
          <a:p>
            <a:pPr algn="l" indent="0" marL="0">
              <a:lnSpc>
                <a:spcPct val="150000"/>
              </a:lnSpc>
              <a:buNone/>
            </a:pPr>
            <a:r>
              <a:rPr lang="en-US" sz="1200" spc="120" kern="100" dirty="0">
                <a:solidFill>
                  <a:srgbClr val="7C3AED"/>
                </a:solidFill>
                <a:latin typeface="Host Grotesk Medium" pitchFamily="34" charset="0"/>
                <a:ea typeface="Host Grotesk Medium" pitchFamily="34" charset="-122"/>
                <a:cs typeface="Host Grotesk Medium" pitchFamily="34" charset="-120"/>
              </a:rPr>
              <a:t>SUBSCRIPTION OPPORTUNITY</a:t>
            </a:r>
            <a:endParaRPr lang="en-US" sz="1200" dirty="0"/>
          </a:p>
        </p:txBody>
      </p:sp>
      <p:sp>
        <p:nvSpPr>
          <p:cNvPr id="3" name="Text 1"/>
          <p:cNvSpPr/>
          <p:nvPr/>
        </p:nvSpPr>
        <p:spPr>
          <a:xfrm>
            <a:off x="609585" y="991791"/>
            <a:ext cx="10972526" cy="426641"/>
          </a:xfrm>
          <a:prstGeom prst="rect">
            <a:avLst/>
          </a:prstGeom>
          <a:noFill/>
          <a:ln/>
        </p:spPr>
        <p:txBody>
          <a:bodyPr wrap="none" lIns="0" tIns="0" rIns="0" bIns="0" rtlCol="0" anchor="t"/>
          <a:lstStyle/>
          <a:p>
            <a:pPr algn="l" indent="0" marL="0">
              <a:lnSpc>
                <a:spcPct val="93000"/>
              </a:lnSpc>
              <a:buNone/>
            </a:pPr>
            <a:r>
              <a:rPr lang="en-US" sz="3000" spc="-15" kern="100" dirty="0">
                <a:solidFill>
                  <a:srgbClr val="2B1B6B"/>
                </a:solidFill>
                <a:latin typeface="Host Grotesk Light" pitchFamily="34" charset="0"/>
                <a:ea typeface="Host Grotesk Light" pitchFamily="34" charset="-122"/>
                <a:cs typeface="Host Grotesk Light" pitchFamily="34" charset="-120"/>
              </a:rPr>
              <a:t>Only 27% of customers subscribe</a:t>
            </a:r>
            <a:endParaRPr lang="en-US" sz="3000" dirty="0"/>
          </a:p>
        </p:txBody>
      </p:sp>
      <p:sp>
        <p:nvSpPr>
          <p:cNvPr id="4" name="Shape 2"/>
          <p:cNvSpPr/>
          <p:nvPr/>
        </p:nvSpPr>
        <p:spPr>
          <a:xfrm>
            <a:off x="609585" y="1785144"/>
            <a:ext cx="10972526" cy="12601"/>
          </a:xfrm>
          <a:prstGeom prst="roundRect">
            <a:avLst>
              <a:gd name="adj" fmla="val 49998"/>
            </a:avLst>
          </a:prstGeom>
          <a:solidFill>
            <a:srgbClr val="2B1B6B"/>
          </a:solidFill>
          <a:ln/>
        </p:spPr>
      </p:sp>
      <p:pic>
        <p:nvPicPr>
          <p:cNvPr id="5" name="Image 0" descr="preencoded.png">    </p:cNvPr>
          <p:cNvPicPr>
            <a:picLocks noChangeAspect="1"/>
          </p:cNvPicPr>
          <p:nvPr/>
        </p:nvPicPr>
        <p:blipFill>
          <a:blip r:embed="rId1"/>
          <a:stretch>
            <a:fillRect/>
          </a:stretch>
        </p:blipFill>
        <p:spPr>
          <a:xfrm>
            <a:off x="609585" y="2139156"/>
            <a:ext cx="5968851" cy="3557885"/>
          </a:xfrm>
          <a:prstGeom prst="rect">
            <a:avLst/>
          </a:prstGeom>
        </p:spPr>
      </p:pic>
      <p:sp>
        <p:nvSpPr>
          <p:cNvPr id="6" name="Text 3"/>
          <p:cNvSpPr/>
          <p:nvPr/>
        </p:nvSpPr>
        <p:spPr>
          <a:xfrm>
            <a:off x="7421674" y="2139156"/>
            <a:ext cx="4160436" cy="960041"/>
          </a:xfrm>
          <a:prstGeom prst="rect">
            <a:avLst/>
          </a:prstGeom>
          <a:noFill/>
          <a:ln/>
        </p:spPr>
        <p:txBody>
          <a:bodyPr wrap="none" lIns="0" tIns="0" rIns="0" bIns="0" rtlCol="0" anchor="t"/>
          <a:lstStyle/>
          <a:p>
            <a:pPr algn="l" indent="0" marL="0">
              <a:lnSpc>
                <a:spcPct val="90000"/>
              </a:lnSpc>
              <a:buNone/>
            </a:pPr>
            <a:r>
              <a:rPr lang="en-US" sz="7000" spc="-70" kern="100" dirty="0">
                <a:solidFill>
                  <a:srgbClr val="7C3AED"/>
                </a:solidFill>
                <a:latin typeface="Host Grotesk Light" pitchFamily="34" charset="0"/>
                <a:ea typeface="Host Grotesk Light" pitchFamily="34" charset="-122"/>
                <a:cs typeface="Host Grotesk Light" pitchFamily="34" charset="-120"/>
              </a:rPr>
              <a:t>27%</a:t>
            </a:r>
            <a:endParaRPr lang="en-US" sz="7000" dirty="0"/>
          </a:p>
        </p:txBody>
      </p:sp>
      <p:sp>
        <p:nvSpPr>
          <p:cNvPr id="7" name="Text 4"/>
          <p:cNvSpPr/>
          <p:nvPr/>
        </p:nvSpPr>
        <p:spPr>
          <a:xfrm>
            <a:off x="7421674" y="3365897"/>
            <a:ext cx="4160436" cy="1574602"/>
          </a:xfrm>
          <a:prstGeom prst="rect">
            <a:avLst/>
          </a:prstGeom>
          <a:noFill/>
          <a:ln/>
        </p:spPr>
        <p:txBody>
          <a:bodyPr wrap="square" lIns="0" tIns="0" rIns="0" bIns="0" rtlCol="0" anchor="t">
            <a:normAutofit/>
          </a:bodyPr>
          <a:lstStyle/>
          <a:p>
            <a:pPr algn="l" indent="0" marL="0">
              <a:lnSpc>
                <a:spcPct val="129000"/>
              </a:lnSpc>
              <a:buNone/>
            </a:pPr>
            <a:r>
              <a:rPr lang="en-US" sz="1600" dirty="0">
                <a:solidFill>
                  <a:srgbClr val="2B2250"/>
                </a:solidFill>
                <a:latin typeface="Host Grotesk" pitchFamily="34" charset="0"/>
                <a:ea typeface="Host Grotesk" pitchFamily="34" charset="-122"/>
                <a:cs typeface="Host Grotesk" pitchFamily="34" charset="-120"/>
              </a:rPr>
              <a:t>Only about one in four customers subscribes, so roughly 2,847 shoppers are an untapped base for recurring revenue; converting even a small share would add predictable income.</a:t>
            </a:r>
            <a:endParaRPr lang="en-US" sz="1600" dirty="0"/>
          </a:p>
        </p:txBody>
      </p:sp>
      <p:sp>
        <p:nvSpPr>
          <p:cNvPr id="8" name="Text 5"/>
          <p:cNvSpPr/>
          <p:nvPr/>
        </p:nvSpPr>
        <p:spPr>
          <a:xfrm>
            <a:off x="7421674" y="5096073"/>
            <a:ext cx="4160436" cy="1326356"/>
          </a:xfrm>
          <a:prstGeom prst="rect">
            <a:avLst/>
          </a:prstGeom>
          <a:noFill/>
          <a:ln/>
        </p:spPr>
        <p:txBody>
          <a:bodyPr wrap="square" lIns="0" tIns="0" rIns="0" bIns="0" rtlCol="0" anchor="t">
            <a:normAutofit/>
          </a:bodyPr>
          <a:lstStyle/>
          <a:p>
            <a:pPr algn="l" marL="325120" indent="-325120">
              <a:lnSpc>
                <a:spcPct val="129000"/>
              </a:lnSpc>
              <a:buSzPct val="100000"/>
              <a:buChar char="•"/>
            </a:pPr>
            <a:r>
              <a:rPr lang="en-US" sz="1600" dirty="0">
                <a:solidFill>
                  <a:srgbClr val="2B2250"/>
                </a:solidFill>
                <a:latin typeface="Host Grotesk" pitchFamily="34" charset="0"/>
                <a:ea typeface="Host Grotesk" pitchFamily="34" charset="-122"/>
                <a:cs typeface="Host Grotesk" pitchFamily="34" charset="-120"/>
              </a:rPr>
              <a:t>Non-subscribers are about 73% of the base.</a:t>
            </a:r>
            <a:endParaRPr lang="en-US" sz="1600" dirty="0"/>
          </a:p>
          <a:p>
            <a:pPr algn="l" marL="325120" indent="-325120">
              <a:lnSpc>
                <a:spcPct val="129000"/>
              </a:lnSpc>
              <a:buSzPct val="100000"/>
              <a:buChar char="•"/>
            </a:pPr>
            <a:r>
              <a:rPr lang="en-US" sz="1600" dirty="0">
                <a:solidFill>
                  <a:srgbClr val="2B2250"/>
                </a:solidFill>
                <a:latin typeface="Host Grotesk" pitchFamily="34" charset="0"/>
                <a:ea typeface="Host Grotesk" pitchFamily="34" charset="-122"/>
                <a:cs typeface="Host Grotesk" pitchFamily="34" charset="-120"/>
              </a:rPr>
              <a:t>Most common purchase cadence is every 3 months.</a:t>
            </a:r>
            <a:endParaRPr lang="en-US" sz="1600" dirty="0"/>
          </a:p>
        </p:txBody>
      </p:sp>
      <p:sp>
        <p:nvSpPr>
          <p:cNvPr id="9" name="Text 6"/>
          <p:cNvSpPr/>
          <p:nvPr/>
        </p:nvSpPr>
        <p:spPr>
          <a:xfrm>
            <a:off x="609585" y="6663730"/>
            <a:ext cx="11582110" cy="264120"/>
          </a:xfrm>
          <a:prstGeom prst="rect">
            <a:avLst/>
          </a:prstGeom>
          <a:noFill/>
          <a:ln/>
        </p:spPr>
        <p:txBody>
          <a:bodyPr wrap="none" lIns="0" tIns="0" rIns="0" bIns="0" rtlCol="0" anchor="t"/>
          <a:lstStyle/>
          <a:p>
            <a:pPr algn="l" indent="0" marL="0">
              <a:lnSpc>
                <a:spcPct val="133000"/>
              </a:lnSpc>
              <a:buNone/>
            </a:pPr>
            <a:r>
              <a:rPr lang="en-US" sz="1300" spc="26" kern="100" dirty="0">
                <a:solidFill>
                  <a:srgbClr val="6B5F95"/>
                </a:solidFill>
                <a:latin typeface="Host Grotesk" pitchFamily="34" charset="0"/>
                <a:ea typeface="Host Grotesk" pitchFamily="34" charset="-122"/>
                <a:cs typeface="Host Grotesk" pitchFamily="34" charset="-120"/>
              </a:rPr>
              <a:t>Source: customer shopping dashboard and dataset</a:t>
            </a:r>
            <a:endParaRPr lang="en-US" sz="1300" dirty="0"/>
          </a:p>
        </p:txBody>
      </p:sp>
      <p:sp>
        <p:nvSpPr>
          <p:cNvPr id="10" name="Shape 7"/>
          <p:cNvSpPr/>
          <p:nvPr/>
        </p:nvSpPr>
        <p:spPr>
          <a:xfrm>
            <a:off x="7186730" y="2139156"/>
            <a:ext cx="12700" cy="4283273"/>
          </a:xfrm>
          <a:prstGeom prst="rect">
            <a:avLst/>
          </a:prstGeom>
          <a:solidFill>
            <a:srgbClr val="5B3FA0">
              <a:alpha val="28000"/>
            </a:srgbClr>
          </a:solidFill>
          <a:ln/>
        </p:spPr>
      </p:sp>
      <p:sp>
        <p:nvSpPr>
          <p:cNvPr id="11" name="Text 8"/>
          <p:cNvSpPr/>
          <p:nvPr/>
        </p:nvSpPr>
        <p:spPr>
          <a:xfrm>
            <a:off x="11756235" y="6444952"/>
            <a:ext cx="435460" cy="216495"/>
          </a:xfrm>
          <a:prstGeom prst="rect">
            <a:avLst/>
          </a:prstGeom>
          <a:noFill/>
          <a:ln/>
        </p:spPr>
        <p:txBody>
          <a:bodyPr wrap="none" lIns="0" tIns="0" rIns="0" bIns="0" rtlCol="0" anchor="ctr"/>
          <a:lstStyle/>
          <a:p>
            <a:pPr algn="l" indent="0" marL="0">
              <a:lnSpc>
                <a:spcPct val="129000"/>
              </a:lnSpc>
              <a:buNone/>
            </a:pPr>
            <a:r>
              <a:rPr lang="en-US" sz="1100" spc="198" kern="100" dirty="0">
                <a:solidFill>
                  <a:srgbClr val="2B1B6B"/>
                </a:solidFill>
                <a:latin typeface="Host Grotesk Medium" pitchFamily="34" charset="0"/>
                <a:ea typeface="Host Grotesk Medium" pitchFamily="34" charset="-122"/>
                <a:cs typeface="Host Grotesk Medium"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09585" y="609600"/>
            <a:ext cx="6705432" cy="274241"/>
          </a:xfrm>
          <a:prstGeom prst="rect">
            <a:avLst/>
          </a:prstGeom>
          <a:noFill/>
          <a:ln/>
        </p:spPr>
        <p:txBody>
          <a:bodyPr wrap="none" lIns="0" tIns="0" rIns="0" bIns="0" rtlCol="0" anchor="t"/>
          <a:lstStyle/>
          <a:p>
            <a:pPr algn="l" indent="0" marL="0">
              <a:lnSpc>
                <a:spcPct val="150000"/>
              </a:lnSpc>
              <a:buNone/>
            </a:pPr>
            <a:r>
              <a:rPr lang="en-US" sz="1200" spc="120" kern="100" dirty="0">
                <a:solidFill>
                  <a:srgbClr val="7C3AED"/>
                </a:solidFill>
                <a:latin typeface="Host Grotesk Medium" pitchFamily="34" charset="0"/>
                <a:ea typeface="Host Grotesk Medium" pitchFamily="34" charset="-122"/>
                <a:cs typeface="Host Grotesk Medium" pitchFamily="34" charset="-120"/>
              </a:rPr>
              <a:t>DELIVERY PREFERENCES</a:t>
            </a:r>
            <a:endParaRPr lang="en-US" sz="1200" dirty="0"/>
          </a:p>
        </p:txBody>
      </p:sp>
      <p:sp>
        <p:nvSpPr>
          <p:cNvPr id="3" name="Text 1"/>
          <p:cNvSpPr/>
          <p:nvPr/>
        </p:nvSpPr>
        <p:spPr>
          <a:xfrm>
            <a:off x="609585" y="991791"/>
            <a:ext cx="6095848" cy="853281"/>
          </a:xfrm>
          <a:prstGeom prst="rect">
            <a:avLst/>
          </a:prstGeom>
          <a:noFill/>
          <a:ln/>
        </p:spPr>
        <p:txBody>
          <a:bodyPr wrap="square" lIns="0" tIns="0" rIns="0" bIns="0" rtlCol="0" anchor="t">
            <a:normAutofit/>
          </a:bodyPr>
          <a:lstStyle/>
          <a:p>
            <a:pPr algn="l" indent="0" marL="0">
              <a:lnSpc>
                <a:spcPct val="93000"/>
              </a:lnSpc>
              <a:buNone/>
            </a:pPr>
            <a:r>
              <a:rPr lang="en-US" sz="3000" spc="-15" kern="100" dirty="0">
                <a:solidFill>
                  <a:srgbClr val="2B1B6B"/>
                </a:solidFill>
                <a:latin typeface="Host Grotesk Light" pitchFamily="34" charset="0"/>
                <a:ea typeface="Host Grotesk Light" pitchFamily="34" charset="-122"/>
                <a:cs typeface="Host Grotesk Light" pitchFamily="34" charset="-120"/>
              </a:rPr>
              <a:t>Shipping: six options, with free shipping the most used</a:t>
            </a:r>
            <a:endParaRPr lang="en-US" sz="3000" dirty="0"/>
          </a:p>
        </p:txBody>
      </p:sp>
      <p:sp>
        <p:nvSpPr>
          <p:cNvPr id="4" name="Shape 2"/>
          <p:cNvSpPr/>
          <p:nvPr/>
        </p:nvSpPr>
        <p:spPr>
          <a:xfrm>
            <a:off x="609585" y="2211784"/>
            <a:ext cx="6095848" cy="12601"/>
          </a:xfrm>
          <a:prstGeom prst="roundRect">
            <a:avLst>
              <a:gd name="adj" fmla="val 49998"/>
            </a:avLst>
          </a:prstGeom>
          <a:solidFill>
            <a:srgbClr val="2B1B6B"/>
          </a:solidFill>
          <a:ln/>
        </p:spPr>
      </p:sp>
      <p:sp>
        <p:nvSpPr>
          <p:cNvPr id="5" name="Text 3"/>
          <p:cNvSpPr/>
          <p:nvPr/>
        </p:nvSpPr>
        <p:spPr>
          <a:xfrm>
            <a:off x="609585" y="2781697"/>
            <a:ext cx="6095848" cy="960041"/>
          </a:xfrm>
          <a:prstGeom prst="rect">
            <a:avLst/>
          </a:prstGeom>
          <a:noFill/>
          <a:ln/>
        </p:spPr>
        <p:txBody>
          <a:bodyPr wrap="none" lIns="0" tIns="0" rIns="0" bIns="0" rtlCol="0" anchor="t"/>
          <a:lstStyle/>
          <a:p>
            <a:pPr algn="l" indent="0" marL="0">
              <a:lnSpc>
                <a:spcPct val="90000"/>
              </a:lnSpc>
              <a:buNone/>
            </a:pPr>
            <a:r>
              <a:rPr lang="en-US" sz="7000" spc="-70" kern="100" dirty="0">
                <a:solidFill>
                  <a:srgbClr val="7C3AED"/>
                </a:solidFill>
                <a:latin typeface="Host Grotesk Light" pitchFamily="34" charset="0"/>
                <a:ea typeface="Host Grotesk Light" pitchFamily="34" charset="-122"/>
                <a:cs typeface="Host Grotesk Light" pitchFamily="34" charset="-120"/>
              </a:rPr>
              <a:t>675</a:t>
            </a:r>
            <a:endParaRPr lang="en-US" sz="7000" dirty="0"/>
          </a:p>
        </p:txBody>
      </p:sp>
      <p:sp>
        <p:nvSpPr>
          <p:cNvPr id="6" name="Text 4"/>
          <p:cNvSpPr/>
          <p:nvPr/>
        </p:nvSpPr>
        <p:spPr>
          <a:xfrm>
            <a:off x="609585" y="4008438"/>
            <a:ext cx="6095848" cy="944761"/>
          </a:xfrm>
          <a:prstGeom prst="rect">
            <a:avLst/>
          </a:prstGeom>
          <a:noFill/>
          <a:ln/>
        </p:spPr>
        <p:txBody>
          <a:bodyPr wrap="square" lIns="0" tIns="0" rIns="0" bIns="0" rtlCol="0" anchor="t">
            <a:normAutofit/>
          </a:bodyPr>
          <a:lstStyle/>
          <a:p>
            <a:pPr algn="l" indent="0" marL="0">
              <a:lnSpc>
                <a:spcPct val="129000"/>
              </a:lnSpc>
              <a:buNone/>
            </a:pPr>
            <a:r>
              <a:rPr lang="en-US" sz="1600" dirty="0">
                <a:solidFill>
                  <a:srgbClr val="2B2250"/>
                </a:solidFill>
                <a:latin typeface="Host Grotesk" pitchFamily="34" charset="0"/>
                <a:ea typeface="Host Grotesk" pitchFamily="34" charset="-122"/>
                <a:cs typeface="Host Grotesk" pitchFamily="34" charset="-120"/>
              </a:rPr>
              <a:t>Free shipping is used on about 17% of orders, so customers value it, but its cost needs checking against any extra spend it drives.</a:t>
            </a:r>
            <a:endParaRPr lang="en-US" sz="1600" dirty="0"/>
          </a:p>
        </p:txBody>
      </p:sp>
      <p:sp>
        <p:nvSpPr>
          <p:cNvPr id="7" name="Text 5"/>
          <p:cNvSpPr/>
          <p:nvPr/>
        </p:nvSpPr>
        <p:spPr>
          <a:xfrm>
            <a:off x="609585" y="5194498"/>
            <a:ext cx="6705432" cy="264120"/>
          </a:xfrm>
          <a:prstGeom prst="rect">
            <a:avLst/>
          </a:prstGeom>
          <a:noFill/>
          <a:ln/>
        </p:spPr>
        <p:txBody>
          <a:bodyPr wrap="none" lIns="0" tIns="0" rIns="0" bIns="0" rtlCol="0" anchor="t"/>
          <a:lstStyle/>
          <a:p>
            <a:pPr algn="l" indent="0" marL="0">
              <a:lnSpc>
                <a:spcPct val="133000"/>
              </a:lnSpc>
              <a:buNone/>
            </a:pPr>
            <a:r>
              <a:rPr lang="en-US" sz="1300" spc="26" kern="100" dirty="0">
                <a:solidFill>
                  <a:srgbClr val="6B5F95"/>
                </a:solidFill>
                <a:latin typeface="Host Grotesk" pitchFamily="34" charset="0"/>
                <a:ea typeface="Host Grotesk" pitchFamily="34" charset="-122"/>
                <a:cs typeface="Host Grotesk" pitchFamily="34" charset="-120"/>
              </a:rPr>
              <a:t>Dashboard filters</a:t>
            </a:r>
            <a:endParaRPr lang="en-US" sz="1300" dirty="0"/>
          </a:p>
        </p:txBody>
      </p:sp>
      <p:sp>
        <p:nvSpPr>
          <p:cNvPr id="8" name="Text 6"/>
          <p:cNvSpPr/>
          <p:nvPr/>
        </p:nvSpPr>
        <p:spPr>
          <a:xfrm>
            <a:off x="609585" y="5699919"/>
            <a:ext cx="6095848" cy="629841"/>
          </a:xfrm>
          <a:prstGeom prst="rect">
            <a:avLst/>
          </a:prstGeom>
          <a:noFill/>
          <a:ln/>
        </p:spPr>
        <p:txBody>
          <a:bodyPr wrap="square" lIns="0" tIns="0" rIns="0" bIns="0" rtlCol="0" anchor="t">
            <a:normAutofit/>
          </a:bodyPr>
          <a:lstStyle/>
          <a:p>
            <a:pPr algn="l" indent="0" marL="0">
              <a:lnSpc>
                <a:spcPct val="129000"/>
              </a:lnSpc>
              <a:buNone/>
            </a:pPr>
            <a:r>
              <a:rPr lang="en-US" sz="1600" dirty="0">
                <a:solidFill>
                  <a:srgbClr val="2B2250"/>
                </a:solidFill>
                <a:latin typeface="Host Grotesk" pitchFamily="34" charset="0"/>
                <a:ea typeface="Host Grotesk" pitchFamily="34" charset="-122"/>
                <a:cs typeface="Host Grotesk" pitchFamily="34" charset="-120"/>
              </a:rPr>
              <a:t>Standard · Express · 2-Day · Next Day Air · Free Shipping · Store Pickup</a:t>
            </a:r>
            <a:endParaRPr lang="en-US" sz="1600" dirty="0"/>
          </a:p>
        </p:txBody>
      </p:sp>
      <p:pic>
        <p:nvPicPr>
          <p:cNvPr id="9" name="Image 0" descr="preencoded.png">    </p:cNvPr>
          <p:cNvPicPr>
            <a:picLocks noChangeAspect="1"/>
          </p:cNvPicPr>
          <p:nvPr/>
        </p:nvPicPr>
        <p:blipFill>
          <a:blip r:embed="rId1"/>
          <a:stretch>
            <a:fillRect/>
          </a:stretch>
        </p:blipFill>
        <p:spPr>
          <a:xfrm>
            <a:off x="7315017" y="0"/>
            <a:ext cx="4876678" cy="6939359"/>
          </a:xfrm>
          <a:prstGeom prst="rect">
            <a:avLst/>
          </a:prstGeom>
        </p:spPr>
      </p:pic>
      <p:sp>
        <p:nvSpPr>
          <p:cNvPr id="10" name="Text 7"/>
          <p:cNvSpPr/>
          <p:nvPr/>
        </p:nvSpPr>
        <p:spPr>
          <a:xfrm>
            <a:off x="203393" y="6444952"/>
            <a:ext cx="841552" cy="216495"/>
          </a:xfrm>
          <a:prstGeom prst="rect">
            <a:avLst/>
          </a:prstGeom>
          <a:noFill/>
          <a:ln/>
        </p:spPr>
        <p:txBody>
          <a:bodyPr wrap="none" lIns="0" tIns="0" rIns="0" bIns="0" rtlCol="0" anchor="ctr"/>
          <a:lstStyle/>
          <a:p>
            <a:pPr algn="l" indent="0" marL="0">
              <a:lnSpc>
                <a:spcPct val="129000"/>
              </a:lnSpc>
              <a:buNone/>
            </a:pPr>
            <a:r>
              <a:rPr lang="en-US" sz="1100" spc="198" kern="100" dirty="0">
                <a:solidFill>
                  <a:srgbClr val="2B1B6B"/>
                </a:solidFill>
                <a:latin typeface="Host Grotesk Medium" pitchFamily="34" charset="0"/>
                <a:ea typeface="Host Grotesk Medium" pitchFamily="34" charset="-122"/>
                <a:cs typeface="Host Grotesk Medium"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09585" y="609600"/>
            <a:ext cx="11582110" cy="274241"/>
          </a:xfrm>
          <a:prstGeom prst="rect">
            <a:avLst/>
          </a:prstGeom>
          <a:noFill/>
          <a:ln/>
        </p:spPr>
        <p:txBody>
          <a:bodyPr wrap="none" lIns="0" tIns="0" rIns="0" bIns="0" rtlCol="0" anchor="t"/>
          <a:lstStyle/>
          <a:p>
            <a:pPr algn="l" indent="0" marL="0">
              <a:lnSpc>
                <a:spcPct val="150000"/>
              </a:lnSpc>
              <a:buNone/>
            </a:pPr>
            <a:r>
              <a:rPr lang="en-US" sz="1200" spc="120" kern="100" dirty="0">
                <a:solidFill>
                  <a:srgbClr val="7C3AED"/>
                </a:solidFill>
                <a:latin typeface="Host Grotesk Medium" pitchFamily="34" charset="0"/>
                <a:ea typeface="Host Grotesk Medium" pitchFamily="34" charset="-122"/>
                <a:cs typeface="Host Grotesk Medium" pitchFamily="34" charset="-120"/>
              </a:rPr>
              <a:t>PROMOTION USAGE</a:t>
            </a:r>
            <a:endParaRPr lang="en-US" sz="1200" dirty="0"/>
          </a:p>
        </p:txBody>
      </p:sp>
      <p:sp>
        <p:nvSpPr>
          <p:cNvPr id="3" name="Text 1"/>
          <p:cNvSpPr/>
          <p:nvPr/>
        </p:nvSpPr>
        <p:spPr>
          <a:xfrm>
            <a:off x="609585" y="991791"/>
            <a:ext cx="10972526" cy="426641"/>
          </a:xfrm>
          <a:prstGeom prst="rect">
            <a:avLst/>
          </a:prstGeom>
          <a:noFill/>
          <a:ln/>
        </p:spPr>
        <p:txBody>
          <a:bodyPr wrap="none" lIns="0" tIns="0" rIns="0" bIns="0" rtlCol="0" anchor="t"/>
          <a:lstStyle/>
          <a:p>
            <a:pPr algn="l" indent="0" marL="0">
              <a:lnSpc>
                <a:spcPct val="93000"/>
              </a:lnSpc>
              <a:buNone/>
            </a:pPr>
            <a:r>
              <a:rPr lang="en-US" sz="3000" spc="-15" kern="100" dirty="0">
                <a:solidFill>
                  <a:srgbClr val="2B1B6B"/>
                </a:solidFill>
                <a:latin typeface="Host Grotesk Light" pitchFamily="34" charset="0"/>
                <a:ea typeface="Host Grotesk Light" pitchFamily="34" charset="-122"/>
                <a:cs typeface="Host Grotesk Light" pitchFamily="34" charset="-120"/>
              </a:rPr>
              <a:t>Discounts reach 43% of orders, driven by promo codes</a:t>
            </a:r>
            <a:endParaRPr lang="en-US" sz="3000" dirty="0"/>
          </a:p>
        </p:txBody>
      </p:sp>
      <p:sp>
        <p:nvSpPr>
          <p:cNvPr id="4" name="Shape 2"/>
          <p:cNvSpPr/>
          <p:nvPr/>
        </p:nvSpPr>
        <p:spPr>
          <a:xfrm>
            <a:off x="609585" y="1785144"/>
            <a:ext cx="10972526" cy="12601"/>
          </a:xfrm>
          <a:prstGeom prst="roundRect">
            <a:avLst>
              <a:gd name="adj" fmla="val 49998"/>
            </a:avLst>
          </a:prstGeom>
          <a:solidFill>
            <a:srgbClr val="2B1B6B"/>
          </a:solidFill>
          <a:ln/>
        </p:spPr>
      </p:sp>
      <p:sp>
        <p:nvSpPr>
          <p:cNvPr id="5" name="Text 3"/>
          <p:cNvSpPr/>
          <p:nvPr/>
        </p:nvSpPr>
        <p:spPr>
          <a:xfrm>
            <a:off x="609585" y="2355056"/>
            <a:ext cx="10972526" cy="1536105"/>
          </a:xfrm>
          <a:prstGeom prst="rect">
            <a:avLst/>
          </a:prstGeom>
          <a:noFill/>
          <a:ln/>
        </p:spPr>
        <p:txBody>
          <a:bodyPr wrap="none" lIns="0" tIns="0" rIns="0" bIns="0" rtlCol="0" anchor="t"/>
          <a:lstStyle/>
          <a:p>
            <a:pPr algn="l" indent="0" marL="0">
              <a:lnSpc>
                <a:spcPct val="90000"/>
              </a:lnSpc>
              <a:buNone/>
            </a:pPr>
            <a:r>
              <a:rPr lang="en-US" sz="11200" spc="-112" kern="100" dirty="0">
                <a:solidFill>
                  <a:srgbClr val="7C3AED"/>
                </a:solidFill>
                <a:latin typeface="Host Grotesk Light" pitchFamily="34" charset="0"/>
                <a:ea typeface="Host Grotesk Light" pitchFamily="34" charset="-122"/>
                <a:cs typeface="Host Grotesk Light" pitchFamily="34" charset="-120"/>
              </a:rPr>
              <a:t>43%</a:t>
            </a:r>
            <a:endParaRPr lang="en-US" sz="11200" dirty="0"/>
          </a:p>
        </p:txBody>
      </p:sp>
      <p:sp>
        <p:nvSpPr>
          <p:cNvPr id="6" name="Text 4"/>
          <p:cNvSpPr/>
          <p:nvPr/>
        </p:nvSpPr>
        <p:spPr>
          <a:xfrm>
            <a:off x="609585" y="4157861"/>
            <a:ext cx="10972526" cy="747911"/>
          </a:xfrm>
          <a:prstGeom prst="rect">
            <a:avLst/>
          </a:prstGeom>
          <a:noFill/>
          <a:ln/>
        </p:spPr>
        <p:txBody>
          <a:bodyPr wrap="square" lIns="0" tIns="0" rIns="0" bIns="0" rtlCol="0" anchor="t">
            <a:normAutofit/>
          </a:bodyPr>
          <a:lstStyle/>
          <a:p>
            <a:pPr algn="l" indent="0" marL="0">
              <a:lnSpc>
                <a:spcPct val="129000"/>
              </a:lnSpc>
              <a:buNone/>
            </a:pPr>
            <a:r>
              <a:rPr lang="en-US" sz="1900" dirty="0">
                <a:solidFill>
                  <a:srgbClr val="2B2250"/>
                </a:solidFill>
                <a:latin typeface="Host Grotesk" pitchFamily="34" charset="0"/>
                <a:ea typeface="Host Grotesk" pitchFamily="34" charset="-122"/>
                <a:cs typeface="Host Grotesk" pitchFamily="34" charset="-120"/>
              </a:rPr>
              <a:t>Nearly half of orders (1,677 of 3,900) use a discount, so margin is routinely traded for volume, and promotions need testing to prove they add spend.</a:t>
            </a:r>
            <a:endParaRPr lang="en-US" sz="1900" dirty="0"/>
          </a:p>
        </p:txBody>
      </p:sp>
      <p:sp>
        <p:nvSpPr>
          <p:cNvPr id="7" name="Shape 5"/>
          <p:cNvSpPr/>
          <p:nvPr/>
        </p:nvSpPr>
        <p:spPr>
          <a:xfrm>
            <a:off x="609585" y="5374084"/>
            <a:ext cx="10972526" cy="12601"/>
          </a:xfrm>
          <a:prstGeom prst="roundRect">
            <a:avLst>
              <a:gd name="adj" fmla="val 49998"/>
            </a:avLst>
          </a:prstGeom>
          <a:solidFill>
            <a:srgbClr val="5B3FA0">
              <a:alpha val="28000"/>
            </a:srgbClr>
          </a:solidFill>
          <a:ln/>
        </p:spPr>
      </p:sp>
      <p:sp>
        <p:nvSpPr>
          <p:cNvPr id="8" name="Text 6"/>
          <p:cNvSpPr/>
          <p:nvPr/>
        </p:nvSpPr>
        <p:spPr>
          <a:xfrm>
            <a:off x="609585" y="5855097"/>
            <a:ext cx="11582110" cy="314920"/>
          </a:xfrm>
          <a:prstGeom prst="rect">
            <a:avLst/>
          </a:prstGeom>
          <a:noFill/>
          <a:ln/>
        </p:spPr>
        <p:txBody>
          <a:bodyPr wrap="none" lIns="0" tIns="0" rIns="0" bIns="0" rtlCol="0" anchor="t"/>
          <a:lstStyle/>
          <a:p>
            <a:pPr algn="l" indent="0" marL="0">
              <a:lnSpc>
                <a:spcPct val="129000"/>
              </a:lnSpc>
              <a:buNone/>
            </a:pPr>
            <a:r>
              <a:rPr lang="en-US" sz="1600" dirty="0">
                <a:solidFill>
                  <a:srgbClr val="2B2250"/>
                </a:solidFill>
                <a:latin typeface="Host Grotesk" pitchFamily="34" charset="0"/>
                <a:ea typeface="Host Grotesk" pitchFamily="34" charset="-122"/>
                <a:cs typeface="Host Grotesk" pitchFamily="34" charset="-120"/>
              </a:rPr>
              <a:t>Discount and promo code matched on every record, so they are one signal.</a:t>
            </a:r>
            <a:endParaRPr lang="en-US" sz="1600" dirty="0"/>
          </a:p>
        </p:txBody>
      </p:sp>
      <p:sp>
        <p:nvSpPr>
          <p:cNvPr id="9" name="Text 7"/>
          <p:cNvSpPr/>
          <p:nvPr/>
        </p:nvSpPr>
        <p:spPr>
          <a:xfrm>
            <a:off x="609585" y="6411317"/>
            <a:ext cx="11582110" cy="264120"/>
          </a:xfrm>
          <a:prstGeom prst="rect">
            <a:avLst/>
          </a:prstGeom>
          <a:noFill/>
          <a:ln/>
        </p:spPr>
        <p:txBody>
          <a:bodyPr wrap="none" lIns="0" tIns="0" rIns="0" bIns="0" rtlCol="0" anchor="t"/>
          <a:lstStyle/>
          <a:p>
            <a:pPr algn="l" indent="0" marL="0">
              <a:lnSpc>
                <a:spcPct val="133000"/>
              </a:lnSpc>
              <a:buNone/>
            </a:pPr>
            <a:r>
              <a:rPr lang="en-US" sz="1300" spc="26" kern="100" dirty="0">
                <a:solidFill>
                  <a:srgbClr val="6B5F95"/>
                </a:solidFill>
                <a:latin typeface="Host Grotesk" pitchFamily="34" charset="0"/>
                <a:ea typeface="Host Grotesk" pitchFamily="34" charset="-122"/>
                <a:cs typeface="Host Grotesk" pitchFamily="34" charset="-120"/>
              </a:rPr>
              <a:t>Source: customer shopping dataset</a:t>
            </a:r>
            <a:endParaRPr lang="en-US" sz="1300" dirty="0"/>
          </a:p>
        </p:txBody>
      </p:sp>
      <p:sp>
        <p:nvSpPr>
          <p:cNvPr id="10" name="Text 8"/>
          <p:cNvSpPr/>
          <p:nvPr/>
        </p:nvSpPr>
        <p:spPr>
          <a:xfrm>
            <a:off x="11756235" y="6444952"/>
            <a:ext cx="435460" cy="216495"/>
          </a:xfrm>
          <a:prstGeom prst="rect">
            <a:avLst/>
          </a:prstGeom>
          <a:noFill/>
          <a:ln/>
        </p:spPr>
        <p:txBody>
          <a:bodyPr wrap="none" lIns="0" tIns="0" rIns="0" bIns="0" rtlCol="0" anchor="ctr"/>
          <a:lstStyle/>
          <a:p>
            <a:pPr algn="l" indent="0" marL="0">
              <a:lnSpc>
                <a:spcPct val="129000"/>
              </a:lnSpc>
              <a:buNone/>
            </a:pPr>
            <a:r>
              <a:rPr lang="en-US" sz="1100" spc="198" kern="100" dirty="0">
                <a:solidFill>
                  <a:srgbClr val="2B1B6B"/>
                </a:solidFill>
                <a:latin typeface="Host Grotesk Medium" pitchFamily="34" charset="0"/>
                <a:ea typeface="Host Grotesk Medium" pitchFamily="34" charset="-122"/>
                <a:cs typeface="Host Grotesk Medium"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063898" cy="6858000"/>
          </a:xfrm>
          <a:prstGeom prst="rect">
            <a:avLst/>
          </a:prstGeom>
        </p:spPr>
      </p:pic>
      <p:sp>
        <p:nvSpPr>
          <p:cNvPr id="3" name="Text 0"/>
          <p:cNvSpPr/>
          <p:nvPr/>
        </p:nvSpPr>
        <p:spPr>
          <a:xfrm>
            <a:off x="4673483" y="609600"/>
            <a:ext cx="7518212" cy="274241"/>
          </a:xfrm>
          <a:prstGeom prst="rect">
            <a:avLst/>
          </a:prstGeom>
          <a:noFill/>
          <a:ln/>
        </p:spPr>
        <p:txBody>
          <a:bodyPr wrap="none" lIns="0" tIns="0" rIns="0" bIns="0" rtlCol="0" anchor="t"/>
          <a:lstStyle/>
          <a:p>
            <a:pPr algn="l" indent="0" marL="0">
              <a:lnSpc>
                <a:spcPct val="150000"/>
              </a:lnSpc>
              <a:buNone/>
            </a:pPr>
            <a:r>
              <a:rPr lang="en-US" sz="1200" spc="120" kern="100" dirty="0">
                <a:solidFill>
                  <a:srgbClr val="7C3AED"/>
                </a:solidFill>
                <a:latin typeface="Host Grotesk Medium" pitchFamily="34" charset="0"/>
                <a:ea typeface="Host Grotesk Medium" pitchFamily="34" charset="-122"/>
                <a:cs typeface="Host Grotesk Medium" pitchFamily="34" charset="-120"/>
              </a:rPr>
              <a:t>RETURNING CUSTOMERS</a:t>
            </a:r>
            <a:endParaRPr lang="en-US" sz="1200" dirty="0"/>
          </a:p>
        </p:txBody>
      </p:sp>
      <p:sp>
        <p:nvSpPr>
          <p:cNvPr id="4" name="Text 1"/>
          <p:cNvSpPr/>
          <p:nvPr/>
        </p:nvSpPr>
        <p:spPr>
          <a:xfrm>
            <a:off x="4673483" y="991791"/>
            <a:ext cx="6908627" cy="853281"/>
          </a:xfrm>
          <a:prstGeom prst="rect">
            <a:avLst/>
          </a:prstGeom>
          <a:noFill/>
          <a:ln/>
        </p:spPr>
        <p:txBody>
          <a:bodyPr wrap="square" lIns="0" tIns="0" rIns="0" bIns="0" rtlCol="0" anchor="t">
            <a:normAutofit/>
          </a:bodyPr>
          <a:lstStyle/>
          <a:p>
            <a:pPr algn="l" indent="0" marL="0">
              <a:lnSpc>
                <a:spcPct val="93000"/>
              </a:lnSpc>
              <a:buNone/>
            </a:pPr>
            <a:r>
              <a:rPr lang="en-US" sz="3000" spc="-15" kern="100" dirty="0">
                <a:solidFill>
                  <a:srgbClr val="2B1B6B"/>
                </a:solidFill>
                <a:latin typeface="Host Grotesk Light" pitchFamily="34" charset="0"/>
                <a:ea typeface="Host Grotesk Light" pitchFamily="34" charset="-122"/>
                <a:cs typeface="Host Grotesk Light" pitchFamily="34" charset="-120"/>
              </a:rPr>
              <a:t>Customers are loyal: 25 previous purchases on average</a:t>
            </a:r>
            <a:endParaRPr lang="en-US" sz="3000" dirty="0"/>
          </a:p>
        </p:txBody>
      </p:sp>
      <p:sp>
        <p:nvSpPr>
          <p:cNvPr id="5" name="Shape 2"/>
          <p:cNvSpPr/>
          <p:nvPr/>
        </p:nvSpPr>
        <p:spPr>
          <a:xfrm>
            <a:off x="4673483" y="2160984"/>
            <a:ext cx="6908528" cy="12601"/>
          </a:xfrm>
          <a:prstGeom prst="roundRect">
            <a:avLst>
              <a:gd name="adj" fmla="val 49998"/>
            </a:avLst>
          </a:prstGeom>
          <a:solidFill>
            <a:srgbClr val="2B1B6B"/>
          </a:solidFill>
          <a:ln/>
        </p:spPr>
      </p:sp>
      <p:sp>
        <p:nvSpPr>
          <p:cNvPr id="6" name="Text 3"/>
          <p:cNvSpPr/>
          <p:nvPr/>
        </p:nvSpPr>
        <p:spPr>
          <a:xfrm>
            <a:off x="4673483" y="2680097"/>
            <a:ext cx="6908627" cy="1152128"/>
          </a:xfrm>
          <a:prstGeom prst="rect">
            <a:avLst/>
          </a:prstGeom>
          <a:noFill/>
          <a:ln/>
        </p:spPr>
        <p:txBody>
          <a:bodyPr wrap="none" lIns="0" tIns="0" rIns="0" bIns="0" rtlCol="0" anchor="t"/>
          <a:lstStyle/>
          <a:p>
            <a:pPr algn="l" indent="0" marL="0">
              <a:lnSpc>
                <a:spcPct val="90000"/>
              </a:lnSpc>
              <a:buNone/>
            </a:pPr>
            <a:r>
              <a:rPr lang="en-US" sz="8400" spc="-84" kern="100" dirty="0">
                <a:solidFill>
                  <a:srgbClr val="7C3AED"/>
                </a:solidFill>
                <a:latin typeface="Host Grotesk Light" pitchFamily="34" charset="0"/>
                <a:ea typeface="Host Grotesk Light" pitchFamily="34" charset="-122"/>
                <a:cs typeface="Host Grotesk Light" pitchFamily="34" charset="-120"/>
              </a:rPr>
              <a:t>25.4</a:t>
            </a:r>
            <a:endParaRPr lang="en-US" sz="8400" dirty="0"/>
          </a:p>
        </p:txBody>
      </p:sp>
      <p:sp>
        <p:nvSpPr>
          <p:cNvPr id="7" name="Text 4"/>
          <p:cNvSpPr/>
          <p:nvPr/>
        </p:nvSpPr>
        <p:spPr>
          <a:xfrm>
            <a:off x="4673483" y="4098925"/>
            <a:ext cx="6908627" cy="944761"/>
          </a:xfrm>
          <a:prstGeom prst="rect">
            <a:avLst/>
          </a:prstGeom>
          <a:noFill/>
          <a:ln/>
        </p:spPr>
        <p:txBody>
          <a:bodyPr wrap="square" lIns="0" tIns="0" rIns="0" bIns="0" rtlCol="0" anchor="t">
            <a:normAutofit/>
          </a:bodyPr>
          <a:lstStyle/>
          <a:p>
            <a:pPr algn="l" indent="0" marL="0">
              <a:lnSpc>
                <a:spcPct val="129000"/>
              </a:lnSpc>
              <a:buNone/>
            </a:pPr>
            <a:r>
              <a:rPr lang="en-US" sz="1600" dirty="0">
                <a:solidFill>
                  <a:srgbClr val="2B2250"/>
                </a:solidFill>
                <a:latin typeface="Host Grotesk" pitchFamily="34" charset="0"/>
                <a:ea typeface="Host Grotesk" pitchFamily="34" charset="-122"/>
                <a:cs typeface="Host Grotesk" pitchFamily="34" charset="-120"/>
              </a:rPr>
              <a:t>Customers have bought about 25 times before, so the base is highly repeat-driven and retention and loyalty perks are worth more than chasing new buyers.</a:t>
            </a:r>
            <a:endParaRPr lang="en-US" sz="1600" dirty="0"/>
          </a:p>
        </p:txBody>
      </p:sp>
      <p:sp>
        <p:nvSpPr>
          <p:cNvPr id="8" name="Shape 5"/>
          <p:cNvSpPr/>
          <p:nvPr/>
        </p:nvSpPr>
        <p:spPr>
          <a:xfrm>
            <a:off x="4673483" y="5334198"/>
            <a:ext cx="6908528" cy="12601"/>
          </a:xfrm>
          <a:prstGeom prst="roundRect">
            <a:avLst>
              <a:gd name="adj" fmla="val 49998"/>
            </a:avLst>
          </a:prstGeom>
          <a:solidFill>
            <a:srgbClr val="5B3FA0">
              <a:alpha val="28000"/>
            </a:srgbClr>
          </a:solidFill>
          <a:ln/>
        </p:spPr>
      </p:sp>
      <p:sp>
        <p:nvSpPr>
          <p:cNvPr id="9" name="Text 6"/>
          <p:cNvSpPr/>
          <p:nvPr/>
        </p:nvSpPr>
        <p:spPr>
          <a:xfrm>
            <a:off x="4673483" y="5637411"/>
            <a:ext cx="6908627" cy="696516"/>
          </a:xfrm>
          <a:prstGeom prst="rect">
            <a:avLst/>
          </a:prstGeom>
          <a:noFill/>
          <a:ln/>
        </p:spPr>
        <p:txBody>
          <a:bodyPr wrap="square" lIns="0" tIns="0" rIns="0" bIns="0" rtlCol="0" anchor="t">
            <a:normAutofit/>
          </a:bodyPr>
          <a:lstStyle/>
          <a:p>
            <a:pPr algn="l" marL="325120" indent="-325120">
              <a:lnSpc>
                <a:spcPct val="129000"/>
              </a:lnSpc>
              <a:buSzPct val="100000"/>
              <a:buChar char="•"/>
            </a:pPr>
            <a:r>
              <a:rPr lang="en-US" sz="1600" dirty="0">
                <a:solidFill>
                  <a:srgbClr val="2B2250"/>
                </a:solidFill>
                <a:latin typeface="Host Grotesk" pitchFamily="34" charset="0"/>
                <a:ea typeface="Host Grotesk" pitchFamily="34" charset="-122"/>
                <a:cs typeface="Host Grotesk" pitchFamily="34" charset="-120"/>
              </a:rPr>
              <a:t>PayPal is the top payment method.</a:t>
            </a:r>
            <a:endParaRPr lang="en-US" sz="1600" dirty="0"/>
          </a:p>
          <a:p>
            <a:pPr algn="l" marL="325120" indent="-325120">
              <a:lnSpc>
                <a:spcPct val="129000"/>
              </a:lnSpc>
              <a:buSzPct val="100000"/>
              <a:buChar char="•"/>
            </a:pPr>
            <a:r>
              <a:rPr lang="en-US" sz="1600" dirty="0">
                <a:solidFill>
                  <a:srgbClr val="2B2250"/>
                </a:solidFill>
                <a:latin typeface="Host Grotesk" pitchFamily="34" charset="0"/>
                <a:ea typeface="Host Grotesk" pitchFamily="34" charset="-122"/>
                <a:cs typeface="Host Grotesk" pitchFamily="34" charset="-120"/>
              </a:rPr>
              <a:t>68% of customers are male.</a:t>
            </a:r>
            <a:endParaRPr lang="en-US" sz="1600" dirty="0"/>
          </a:p>
        </p:txBody>
      </p:sp>
      <p:sp>
        <p:nvSpPr>
          <p:cNvPr id="10" name="Text 7"/>
          <p:cNvSpPr/>
          <p:nvPr/>
        </p:nvSpPr>
        <p:spPr>
          <a:xfrm>
            <a:off x="4673483" y="6575227"/>
            <a:ext cx="7518212" cy="264120"/>
          </a:xfrm>
          <a:prstGeom prst="rect">
            <a:avLst/>
          </a:prstGeom>
          <a:noFill/>
          <a:ln/>
        </p:spPr>
        <p:txBody>
          <a:bodyPr wrap="none" lIns="0" tIns="0" rIns="0" bIns="0" rtlCol="0" anchor="t"/>
          <a:lstStyle/>
          <a:p>
            <a:pPr algn="l" indent="0" marL="0">
              <a:lnSpc>
                <a:spcPct val="133000"/>
              </a:lnSpc>
              <a:buNone/>
            </a:pPr>
            <a:r>
              <a:rPr lang="en-US" sz="1300" spc="26" kern="100" dirty="0">
                <a:solidFill>
                  <a:srgbClr val="6B5F95"/>
                </a:solidFill>
                <a:latin typeface="Host Grotesk" pitchFamily="34" charset="0"/>
                <a:ea typeface="Host Grotesk" pitchFamily="34" charset="-122"/>
                <a:cs typeface="Host Grotesk" pitchFamily="34" charset="-120"/>
              </a:rPr>
              <a:t>Source: customer shopping dataset · illustrative shoppers</a:t>
            </a:r>
            <a:endParaRPr lang="en-US" sz="1300" dirty="0"/>
          </a:p>
        </p:txBody>
      </p:sp>
      <p:sp>
        <p:nvSpPr>
          <p:cNvPr id="11" name="Text 8"/>
          <p:cNvSpPr/>
          <p:nvPr/>
        </p:nvSpPr>
        <p:spPr>
          <a:xfrm>
            <a:off x="11756235" y="6444952"/>
            <a:ext cx="435460" cy="216495"/>
          </a:xfrm>
          <a:prstGeom prst="rect">
            <a:avLst/>
          </a:prstGeom>
          <a:noFill/>
          <a:ln/>
        </p:spPr>
        <p:txBody>
          <a:bodyPr wrap="none" lIns="0" tIns="0" rIns="0" bIns="0" rtlCol="0" anchor="ctr"/>
          <a:lstStyle/>
          <a:p>
            <a:pPr algn="l" indent="0" marL="0">
              <a:lnSpc>
                <a:spcPct val="129000"/>
              </a:lnSpc>
              <a:buNone/>
            </a:pPr>
            <a:r>
              <a:rPr lang="en-US" sz="1100" spc="198" kern="100" dirty="0">
                <a:solidFill>
                  <a:srgbClr val="2B1B6B"/>
                </a:solidFill>
                <a:latin typeface="Host Grotesk Medium" pitchFamily="34" charset="0"/>
                <a:ea typeface="Host Grotesk Medium" pitchFamily="34" charset="-122"/>
                <a:cs typeface="Host Grotesk Medium"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09585" y="609600"/>
            <a:ext cx="11582110" cy="274241"/>
          </a:xfrm>
          <a:prstGeom prst="rect">
            <a:avLst/>
          </a:prstGeom>
          <a:noFill/>
          <a:ln/>
        </p:spPr>
        <p:txBody>
          <a:bodyPr wrap="none" lIns="0" tIns="0" rIns="0" bIns="0" rtlCol="0" anchor="t"/>
          <a:lstStyle/>
          <a:p>
            <a:pPr algn="l" indent="0" marL="0">
              <a:lnSpc>
                <a:spcPct val="150000"/>
              </a:lnSpc>
              <a:buNone/>
            </a:pPr>
            <a:r>
              <a:rPr lang="en-US" sz="1200" spc="120" kern="100" dirty="0">
                <a:solidFill>
                  <a:srgbClr val="7C3AED"/>
                </a:solidFill>
                <a:latin typeface="Host Grotesk Medium" pitchFamily="34" charset="0"/>
                <a:ea typeface="Host Grotesk Medium" pitchFamily="34" charset="-122"/>
                <a:cs typeface="Host Grotesk Medium" pitchFamily="34" charset="-120"/>
              </a:rPr>
              <a:t>ACTIONS TO TEST</a:t>
            </a:r>
            <a:endParaRPr lang="en-US" sz="1200" dirty="0"/>
          </a:p>
        </p:txBody>
      </p:sp>
      <p:sp>
        <p:nvSpPr>
          <p:cNvPr id="3" name="Text 1"/>
          <p:cNvSpPr/>
          <p:nvPr/>
        </p:nvSpPr>
        <p:spPr>
          <a:xfrm>
            <a:off x="609585" y="991791"/>
            <a:ext cx="10972526" cy="426641"/>
          </a:xfrm>
          <a:prstGeom prst="rect">
            <a:avLst/>
          </a:prstGeom>
          <a:noFill/>
          <a:ln/>
        </p:spPr>
        <p:txBody>
          <a:bodyPr wrap="none" lIns="0" tIns="0" rIns="0" bIns="0" rtlCol="0" anchor="t"/>
          <a:lstStyle/>
          <a:p>
            <a:pPr algn="l" indent="0" marL="0">
              <a:lnSpc>
                <a:spcPct val="93000"/>
              </a:lnSpc>
              <a:buNone/>
            </a:pPr>
            <a:r>
              <a:rPr lang="en-US" sz="3000" spc="-15" kern="100" dirty="0">
                <a:solidFill>
                  <a:srgbClr val="2B1B6B"/>
                </a:solidFill>
                <a:latin typeface="Host Grotesk Light" pitchFamily="34" charset="0"/>
                <a:ea typeface="Host Grotesk Light" pitchFamily="34" charset="-122"/>
                <a:cs typeface="Host Grotesk Light" pitchFamily="34" charset="-120"/>
              </a:rPr>
              <a:t>Recommendations</a:t>
            </a:r>
            <a:endParaRPr lang="en-US" sz="3000" dirty="0"/>
          </a:p>
        </p:txBody>
      </p:sp>
      <p:sp>
        <p:nvSpPr>
          <p:cNvPr id="4" name="Shape 2"/>
          <p:cNvSpPr/>
          <p:nvPr/>
        </p:nvSpPr>
        <p:spPr>
          <a:xfrm>
            <a:off x="609585" y="1785144"/>
            <a:ext cx="10972526" cy="12601"/>
          </a:xfrm>
          <a:prstGeom prst="roundRect">
            <a:avLst>
              <a:gd name="adj" fmla="val 49998"/>
            </a:avLst>
          </a:prstGeom>
          <a:solidFill>
            <a:srgbClr val="2B1B6B"/>
          </a:solidFill>
          <a:ln/>
        </p:spPr>
      </p:sp>
      <p:sp>
        <p:nvSpPr>
          <p:cNvPr id="5" name="Shape 3"/>
          <p:cNvSpPr/>
          <p:nvPr/>
        </p:nvSpPr>
        <p:spPr>
          <a:xfrm>
            <a:off x="609585" y="2139156"/>
            <a:ext cx="5333867" cy="1840012"/>
          </a:xfrm>
          <a:prstGeom prst="rect">
            <a:avLst/>
          </a:prstGeom>
          <a:solidFill>
            <a:srgbClr val="E9DFFF"/>
          </a:solidFill>
          <a:ln/>
        </p:spPr>
      </p:sp>
      <p:sp>
        <p:nvSpPr>
          <p:cNvPr id="6" name="Shape 4"/>
          <p:cNvSpPr/>
          <p:nvPr/>
        </p:nvSpPr>
        <p:spPr>
          <a:xfrm>
            <a:off x="609585" y="2139156"/>
            <a:ext cx="5333867" cy="19050"/>
          </a:xfrm>
          <a:prstGeom prst="rect">
            <a:avLst/>
          </a:prstGeom>
          <a:solidFill>
            <a:srgbClr val="7C3AED"/>
          </a:solidFill>
          <a:ln/>
        </p:spPr>
      </p:sp>
      <p:sp>
        <p:nvSpPr>
          <p:cNvPr id="7" name="Shape 5"/>
          <p:cNvSpPr/>
          <p:nvPr/>
        </p:nvSpPr>
        <p:spPr>
          <a:xfrm>
            <a:off x="5937101" y="2139156"/>
            <a:ext cx="6350" cy="1840012"/>
          </a:xfrm>
          <a:prstGeom prst="rect">
            <a:avLst/>
          </a:prstGeom>
          <a:solidFill>
            <a:srgbClr val="5B3FA0">
              <a:alpha val="28000"/>
            </a:srgbClr>
          </a:solidFill>
          <a:ln/>
        </p:spPr>
      </p:sp>
      <p:sp>
        <p:nvSpPr>
          <p:cNvPr id="8" name="Shape 6"/>
          <p:cNvSpPr/>
          <p:nvPr/>
        </p:nvSpPr>
        <p:spPr>
          <a:xfrm>
            <a:off x="609585" y="3972818"/>
            <a:ext cx="5333867" cy="6350"/>
          </a:xfrm>
          <a:prstGeom prst="rect">
            <a:avLst/>
          </a:prstGeom>
          <a:solidFill>
            <a:srgbClr val="5B3FA0">
              <a:alpha val="28000"/>
            </a:srgbClr>
          </a:solidFill>
          <a:ln/>
        </p:spPr>
      </p:sp>
      <p:sp>
        <p:nvSpPr>
          <p:cNvPr id="9" name="Shape 7"/>
          <p:cNvSpPr/>
          <p:nvPr/>
        </p:nvSpPr>
        <p:spPr>
          <a:xfrm>
            <a:off x="609585" y="2139156"/>
            <a:ext cx="6350" cy="1840012"/>
          </a:xfrm>
          <a:prstGeom prst="rect">
            <a:avLst/>
          </a:prstGeom>
          <a:solidFill>
            <a:srgbClr val="5B3FA0">
              <a:alpha val="28000"/>
            </a:srgbClr>
          </a:solidFill>
          <a:ln/>
        </p:spPr>
      </p:sp>
      <p:sp>
        <p:nvSpPr>
          <p:cNvPr id="10" name="Text 8"/>
          <p:cNvSpPr/>
          <p:nvPr/>
        </p:nvSpPr>
        <p:spPr>
          <a:xfrm>
            <a:off x="844529" y="2386806"/>
            <a:ext cx="4863978" cy="63996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000000"/>
                </a:solidFill>
                <a:latin typeface="Host Grotesk Medium" pitchFamily="34" charset="0"/>
                <a:ea typeface="Host Grotesk Medium" pitchFamily="34" charset="-122"/>
                <a:cs typeface="Host Grotesk Medium" pitchFamily="34" charset="-120"/>
              </a:rPr>
              <a:t>Grow subscriptions: 73% are not yet subscribers</a:t>
            </a:r>
            <a:endParaRPr lang="en-US" sz="1800" dirty="0"/>
          </a:p>
        </p:txBody>
      </p:sp>
      <p:sp>
        <p:nvSpPr>
          <p:cNvPr id="11" name="Shape 9"/>
          <p:cNvSpPr/>
          <p:nvPr/>
        </p:nvSpPr>
        <p:spPr>
          <a:xfrm>
            <a:off x="6248244" y="2139156"/>
            <a:ext cx="5333867" cy="1840012"/>
          </a:xfrm>
          <a:prstGeom prst="rect">
            <a:avLst/>
          </a:prstGeom>
          <a:solidFill>
            <a:srgbClr val="E9DFFF"/>
          </a:solidFill>
          <a:ln w="6350">
            <a:solidFill>
              <a:srgbClr val="5B3FA0">
                <a:alpha val="28000"/>
              </a:srgbClr>
            </a:solidFill>
            <a:prstDash val="solid"/>
          </a:ln>
        </p:spPr>
      </p:sp>
      <p:sp>
        <p:nvSpPr>
          <p:cNvPr id="12" name="Text 10"/>
          <p:cNvSpPr/>
          <p:nvPr/>
        </p:nvSpPr>
        <p:spPr>
          <a:xfrm>
            <a:off x="6483188" y="2374106"/>
            <a:ext cx="4863978" cy="63996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000000"/>
                </a:solidFill>
                <a:latin typeface="Host Grotesk Medium" pitchFamily="34" charset="0"/>
                <a:ea typeface="Host Grotesk Medium" pitchFamily="34" charset="-122"/>
                <a:cs typeface="Host Grotesk Medium" pitchFamily="34" charset="-120"/>
              </a:rPr>
              <a:t>Protect Clothing and Accessories, and test a lift plan for Outerwear</a:t>
            </a:r>
            <a:endParaRPr lang="en-US" sz="1800" dirty="0"/>
          </a:p>
        </p:txBody>
      </p:sp>
      <p:sp>
        <p:nvSpPr>
          <p:cNvPr id="13" name="Shape 11"/>
          <p:cNvSpPr/>
          <p:nvPr/>
        </p:nvSpPr>
        <p:spPr>
          <a:xfrm>
            <a:off x="609585" y="4283968"/>
            <a:ext cx="5333867" cy="1840012"/>
          </a:xfrm>
          <a:prstGeom prst="rect">
            <a:avLst/>
          </a:prstGeom>
          <a:solidFill>
            <a:srgbClr val="E9DFFF"/>
          </a:solidFill>
          <a:ln w="6350">
            <a:solidFill>
              <a:srgbClr val="5B3FA0">
                <a:alpha val="28000"/>
              </a:srgbClr>
            </a:solidFill>
            <a:prstDash val="solid"/>
          </a:ln>
        </p:spPr>
      </p:sp>
      <p:sp>
        <p:nvSpPr>
          <p:cNvPr id="14" name="Text 12"/>
          <p:cNvSpPr/>
          <p:nvPr/>
        </p:nvSpPr>
        <p:spPr>
          <a:xfrm>
            <a:off x="844529" y="4518918"/>
            <a:ext cx="4863978" cy="63996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000000"/>
                </a:solidFill>
                <a:latin typeface="Host Grotesk Medium" pitchFamily="34" charset="0"/>
                <a:ea typeface="Host Grotesk Medium" pitchFamily="34" charset="-122"/>
                <a:cs typeface="Host Grotesk Medium" pitchFamily="34" charset="-120"/>
              </a:rPr>
              <a:t>Focus offers on Young Adults, the top spenders, without neglecting other groups</a:t>
            </a:r>
            <a:endParaRPr lang="en-US" sz="1800" dirty="0"/>
          </a:p>
        </p:txBody>
      </p:sp>
      <p:sp>
        <p:nvSpPr>
          <p:cNvPr id="15" name="Shape 13"/>
          <p:cNvSpPr/>
          <p:nvPr/>
        </p:nvSpPr>
        <p:spPr>
          <a:xfrm>
            <a:off x="6248244" y="4283968"/>
            <a:ext cx="5333867" cy="1840012"/>
          </a:xfrm>
          <a:prstGeom prst="rect">
            <a:avLst/>
          </a:prstGeom>
          <a:solidFill>
            <a:srgbClr val="E9DFFF"/>
          </a:solidFill>
          <a:ln w="6350">
            <a:solidFill>
              <a:srgbClr val="5B3FA0">
                <a:alpha val="28000"/>
              </a:srgbClr>
            </a:solidFill>
            <a:prstDash val="solid"/>
          </a:ln>
        </p:spPr>
      </p:sp>
      <p:sp>
        <p:nvSpPr>
          <p:cNvPr id="16" name="Text 14"/>
          <p:cNvSpPr/>
          <p:nvPr/>
        </p:nvSpPr>
        <p:spPr>
          <a:xfrm>
            <a:off x="6483188" y="4518918"/>
            <a:ext cx="4863978" cy="63996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000000"/>
                </a:solidFill>
                <a:latin typeface="Host Grotesk Medium" pitchFamily="34" charset="0"/>
                <a:ea typeface="Host Grotesk Medium" pitchFamily="34" charset="-122"/>
                <a:cs typeface="Host Grotesk Medium" pitchFamily="34" charset="-120"/>
              </a:rPr>
              <a:t>Test whether free shipping or discounts raise spend before widening them</a:t>
            </a:r>
            <a:endParaRPr lang="en-US" sz="1800" dirty="0"/>
          </a:p>
        </p:txBody>
      </p:sp>
      <p:sp>
        <p:nvSpPr>
          <p:cNvPr id="17" name="Text 15"/>
          <p:cNvSpPr/>
          <p:nvPr/>
        </p:nvSpPr>
        <p:spPr>
          <a:xfrm>
            <a:off x="609585" y="6365280"/>
            <a:ext cx="11582110" cy="264120"/>
          </a:xfrm>
          <a:prstGeom prst="rect">
            <a:avLst/>
          </a:prstGeom>
          <a:noFill/>
          <a:ln/>
        </p:spPr>
        <p:txBody>
          <a:bodyPr wrap="none" lIns="0" tIns="0" rIns="0" bIns="0" rtlCol="0" anchor="t"/>
          <a:lstStyle/>
          <a:p>
            <a:pPr algn="l" indent="0" marL="0">
              <a:lnSpc>
                <a:spcPct val="133000"/>
              </a:lnSpc>
              <a:buNone/>
            </a:pPr>
            <a:r>
              <a:rPr lang="en-US" sz="1300" spc="26" kern="100" dirty="0">
                <a:solidFill>
                  <a:srgbClr val="6B5F95"/>
                </a:solidFill>
                <a:latin typeface="Host Grotesk" pitchFamily="34" charset="0"/>
                <a:ea typeface="Host Grotesk" pitchFamily="34" charset="-122"/>
                <a:cs typeface="Host Grotesk" pitchFamily="34" charset="-120"/>
              </a:rPr>
              <a:t>Use the dashboard findings to prioritise tests, not to claim causal effects.</a:t>
            </a:r>
            <a:endParaRPr lang="en-US" sz="1300" dirty="0"/>
          </a:p>
        </p:txBody>
      </p:sp>
      <p:sp>
        <p:nvSpPr>
          <p:cNvPr id="18" name="Text 16"/>
          <p:cNvSpPr/>
          <p:nvPr/>
        </p:nvSpPr>
        <p:spPr>
          <a:xfrm>
            <a:off x="11756235" y="6444952"/>
            <a:ext cx="435460" cy="216495"/>
          </a:xfrm>
          <a:prstGeom prst="rect">
            <a:avLst/>
          </a:prstGeom>
          <a:noFill/>
          <a:ln/>
        </p:spPr>
        <p:txBody>
          <a:bodyPr wrap="none" lIns="0" tIns="0" rIns="0" bIns="0" rtlCol="0" anchor="ctr"/>
          <a:lstStyle/>
          <a:p>
            <a:pPr algn="l" indent="0" marL="0">
              <a:lnSpc>
                <a:spcPct val="129000"/>
              </a:lnSpc>
              <a:buNone/>
            </a:pPr>
            <a:r>
              <a:rPr lang="en-US" sz="1100" spc="198" kern="100" dirty="0">
                <a:solidFill>
                  <a:srgbClr val="2B1B6B"/>
                </a:solidFill>
                <a:latin typeface="Host Grotesk Medium" pitchFamily="34" charset="0"/>
                <a:ea typeface="Host Grotesk Medium" pitchFamily="34" charset="-122"/>
                <a:cs typeface="Host Grotesk Medium" pitchFamily="34" charset="-120"/>
              </a:rPr>
              <a:t>10</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2026-10-06T20:31:57Z</dcterms:created>
  <dcterms:modified xsi:type="dcterms:W3CDTF">2026-10-06T20:31:57Z</dcterms:modified>
</cp:coreProperties>
</file>